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3" r:id="rId2"/>
    <p:sldId id="256" r:id="rId3"/>
    <p:sldId id="257" r:id="rId4"/>
    <p:sldId id="259" r:id="rId5"/>
    <p:sldId id="261" r:id="rId6"/>
    <p:sldId id="262" r:id="rId7"/>
    <p:sldId id="263" r:id="rId8"/>
    <p:sldId id="265" r:id="rId9"/>
    <p:sldId id="266" r:id="rId10"/>
    <p:sldId id="267" r:id="rId11"/>
    <p:sldId id="268" r:id="rId12"/>
    <p:sldId id="269" r:id="rId13"/>
    <p:sldId id="270" r:id="rId14"/>
    <p:sldId id="271" r:id="rId15"/>
    <p:sldId id="264"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836EA6-C51C-49B2-8372-7B00938E24F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593C1F8-090B-452F-A34C-7C732DCA3E69}">
      <dgm:prSet/>
      <dgm:spPr/>
      <dgm:t>
        <a:bodyPr/>
        <a:lstStyle/>
        <a:p>
          <a:r>
            <a:rPr lang="en-US"/>
            <a:t>Clustering</a:t>
          </a:r>
        </a:p>
      </dgm:t>
    </dgm:pt>
    <dgm:pt modelId="{10A19199-8F63-49F5-8423-269480231185}" type="parTrans" cxnId="{7B321FBF-E984-4E36-9031-7F67E33FD630}">
      <dgm:prSet/>
      <dgm:spPr/>
      <dgm:t>
        <a:bodyPr/>
        <a:lstStyle/>
        <a:p>
          <a:endParaRPr lang="en-US"/>
        </a:p>
      </dgm:t>
    </dgm:pt>
    <dgm:pt modelId="{68D71B4F-59F5-46CE-8380-2BAE04323E7F}" type="sibTrans" cxnId="{7B321FBF-E984-4E36-9031-7F67E33FD630}">
      <dgm:prSet/>
      <dgm:spPr/>
      <dgm:t>
        <a:bodyPr/>
        <a:lstStyle/>
        <a:p>
          <a:endParaRPr lang="en-US"/>
        </a:p>
      </dgm:t>
    </dgm:pt>
    <dgm:pt modelId="{5A6803A3-7733-4CD8-9E46-F1E9E1E6CA75}">
      <dgm:prSet/>
      <dgm:spPr/>
      <dgm:t>
        <a:bodyPr/>
        <a:lstStyle/>
        <a:p>
          <a:r>
            <a:rPr lang="en-US"/>
            <a:t>Colaborative Filtering</a:t>
          </a:r>
        </a:p>
      </dgm:t>
    </dgm:pt>
    <dgm:pt modelId="{1BC41A9F-CBF1-4F62-AA66-D84D60E0408E}" type="parTrans" cxnId="{D0B4CDAD-8956-4844-A180-9A89E51E1FB6}">
      <dgm:prSet/>
      <dgm:spPr/>
      <dgm:t>
        <a:bodyPr/>
        <a:lstStyle/>
        <a:p>
          <a:endParaRPr lang="en-US"/>
        </a:p>
      </dgm:t>
    </dgm:pt>
    <dgm:pt modelId="{47EBBCE1-003D-4800-8755-C1B165ACA9D3}" type="sibTrans" cxnId="{D0B4CDAD-8956-4844-A180-9A89E51E1FB6}">
      <dgm:prSet/>
      <dgm:spPr/>
      <dgm:t>
        <a:bodyPr/>
        <a:lstStyle/>
        <a:p>
          <a:endParaRPr lang="en-US"/>
        </a:p>
      </dgm:t>
    </dgm:pt>
    <dgm:pt modelId="{B02DAC6A-4B0A-4C2D-83FE-A1D780F8A1F5}">
      <dgm:prSet/>
      <dgm:spPr/>
      <dgm:t>
        <a:bodyPr/>
        <a:lstStyle/>
        <a:p>
          <a:r>
            <a:rPr lang="en-US"/>
            <a:t>Content-Based Filtering</a:t>
          </a:r>
        </a:p>
      </dgm:t>
    </dgm:pt>
    <dgm:pt modelId="{52C41691-771C-4F37-9E99-28946D1085B8}" type="parTrans" cxnId="{B9BAB587-5968-4C04-9B57-554598942829}">
      <dgm:prSet/>
      <dgm:spPr/>
      <dgm:t>
        <a:bodyPr/>
        <a:lstStyle/>
        <a:p>
          <a:endParaRPr lang="en-US"/>
        </a:p>
      </dgm:t>
    </dgm:pt>
    <dgm:pt modelId="{0A91B4B6-A1E2-444A-B8FF-DFED8E45E102}" type="sibTrans" cxnId="{B9BAB587-5968-4C04-9B57-554598942829}">
      <dgm:prSet/>
      <dgm:spPr/>
      <dgm:t>
        <a:bodyPr/>
        <a:lstStyle/>
        <a:p>
          <a:endParaRPr lang="en-US"/>
        </a:p>
      </dgm:t>
    </dgm:pt>
    <dgm:pt modelId="{25C8BC7A-BAE6-4228-A84E-C2D934118C23}">
      <dgm:prSet/>
      <dgm:spPr/>
      <dgm:t>
        <a:bodyPr/>
        <a:lstStyle/>
        <a:p>
          <a:r>
            <a:rPr lang="en-US"/>
            <a:t>Matrix Factorization</a:t>
          </a:r>
        </a:p>
      </dgm:t>
    </dgm:pt>
    <dgm:pt modelId="{669783F1-FD36-4120-9743-A134F2C44E42}" type="parTrans" cxnId="{B0158C09-453E-45DD-8E0C-A268BAD646F4}">
      <dgm:prSet/>
      <dgm:spPr/>
      <dgm:t>
        <a:bodyPr/>
        <a:lstStyle/>
        <a:p>
          <a:endParaRPr lang="en-US"/>
        </a:p>
      </dgm:t>
    </dgm:pt>
    <dgm:pt modelId="{EB13C5D2-51E7-4C00-ACA8-5EEFD20C877B}" type="sibTrans" cxnId="{B0158C09-453E-45DD-8E0C-A268BAD646F4}">
      <dgm:prSet/>
      <dgm:spPr/>
      <dgm:t>
        <a:bodyPr/>
        <a:lstStyle/>
        <a:p>
          <a:endParaRPr lang="en-US"/>
        </a:p>
      </dgm:t>
    </dgm:pt>
    <dgm:pt modelId="{9AB1B376-77BC-45CC-98CE-E90C001B020A}" type="pres">
      <dgm:prSet presAssocID="{54836EA6-C51C-49B2-8372-7B00938E24F3}" presName="hierChild1" presStyleCnt="0">
        <dgm:presLayoutVars>
          <dgm:chPref val="1"/>
          <dgm:dir/>
          <dgm:animOne val="branch"/>
          <dgm:animLvl val="lvl"/>
          <dgm:resizeHandles/>
        </dgm:presLayoutVars>
      </dgm:prSet>
      <dgm:spPr/>
    </dgm:pt>
    <dgm:pt modelId="{8811C71A-6D51-4B72-BB0A-16FC6EA2C2AF}" type="pres">
      <dgm:prSet presAssocID="{5593C1F8-090B-452F-A34C-7C732DCA3E69}" presName="hierRoot1" presStyleCnt="0"/>
      <dgm:spPr/>
    </dgm:pt>
    <dgm:pt modelId="{73D410AD-DA0C-478C-B6C0-4975258162EF}" type="pres">
      <dgm:prSet presAssocID="{5593C1F8-090B-452F-A34C-7C732DCA3E69}" presName="composite" presStyleCnt="0"/>
      <dgm:spPr/>
    </dgm:pt>
    <dgm:pt modelId="{91DA9FC9-130C-432C-B78F-1744291A432F}" type="pres">
      <dgm:prSet presAssocID="{5593C1F8-090B-452F-A34C-7C732DCA3E69}" presName="background" presStyleLbl="node0" presStyleIdx="0" presStyleCnt="4"/>
      <dgm:spPr/>
    </dgm:pt>
    <dgm:pt modelId="{1BAA5A07-0AFC-4603-91DE-CC005F57598F}" type="pres">
      <dgm:prSet presAssocID="{5593C1F8-090B-452F-A34C-7C732DCA3E69}" presName="text" presStyleLbl="fgAcc0" presStyleIdx="0" presStyleCnt="4">
        <dgm:presLayoutVars>
          <dgm:chPref val="3"/>
        </dgm:presLayoutVars>
      </dgm:prSet>
      <dgm:spPr/>
    </dgm:pt>
    <dgm:pt modelId="{D185F314-DBAF-49DC-86FD-26C74F0EBBFE}" type="pres">
      <dgm:prSet presAssocID="{5593C1F8-090B-452F-A34C-7C732DCA3E69}" presName="hierChild2" presStyleCnt="0"/>
      <dgm:spPr/>
    </dgm:pt>
    <dgm:pt modelId="{D6F6806A-D4BE-4F5D-9E30-890E9AAC888A}" type="pres">
      <dgm:prSet presAssocID="{5A6803A3-7733-4CD8-9E46-F1E9E1E6CA75}" presName="hierRoot1" presStyleCnt="0"/>
      <dgm:spPr/>
    </dgm:pt>
    <dgm:pt modelId="{740CD080-E056-4F09-AB1A-EB01E4EC0307}" type="pres">
      <dgm:prSet presAssocID="{5A6803A3-7733-4CD8-9E46-F1E9E1E6CA75}" presName="composite" presStyleCnt="0"/>
      <dgm:spPr/>
    </dgm:pt>
    <dgm:pt modelId="{C85DBF14-3235-4351-A3A8-14D112C84B71}" type="pres">
      <dgm:prSet presAssocID="{5A6803A3-7733-4CD8-9E46-F1E9E1E6CA75}" presName="background" presStyleLbl="node0" presStyleIdx="1" presStyleCnt="4"/>
      <dgm:spPr/>
    </dgm:pt>
    <dgm:pt modelId="{91AD28AA-3C35-4D83-AABD-E76AE3898291}" type="pres">
      <dgm:prSet presAssocID="{5A6803A3-7733-4CD8-9E46-F1E9E1E6CA75}" presName="text" presStyleLbl="fgAcc0" presStyleIdx="1" presStyleCnt="4">
        <dgm:presLayoutVars>
          <dgm:chPref val="3"/>
        </dgm:presLayoutVars>
      </dgm:prSet>
      <dgm:spPr/>
    </dgm:pt>
    <dgm:pt modelId="{567E84C6-172B-402F-B4A3-0CD5857C1082}" type="pres">
      <dgm:prSet presAssocID="{5A6803A3-7733-4CD8-9E46-F1E9E1E6CA75}" presName="hierChild2" presStyleCnt="0"/>
      <dgm:spPr/>
    </dgm:pt>
    <dgm:pt modelId="{D3A9323D-CB5D-4D8F-B333-00C9C0370304}" type="pres">
      <dgm:prSet presAssocID="{B02DAC6A-4B0A-4C2D-83FE-A1D780F8A1F5}" presName="hierRoot1" presStyleCnt="0"/>
      <dgm:spPr/>
    </dgm:pt>
    <dgm:pt modelId="{3764366F-DEE1-4EB2-A00D-F0C4682717F8}" type="pres">
      <dgm:prSet presAssocID="{B02DAC6A-4B0A-4C2D-83FE-A1D780F8A1F5}" presName="composite" presStyleCnt="0"/>
      <dgm:spPr/>
    </dgm:pt>
    <dgm:pt modelId="{B4BB885E-9FE6-484C-8E57-764220F806EC}" type="pres">
      <dgm:prSet presAssocID="{B02DAC6A-4B0A-4C2D-83FE-A1D780F8A1F5}" presName="background" presStyleLbl="node0" presStyleIdx="2" presStyleCnt="4"/>
      <dgm:spPr/>
    </dgm:pt>
    <dgm:pt modelId="{026DD0D0-3211-47CB-B5DB-CA29E8B07729}" type="pres">
      <dgm:prSet presAssocID="{B02DAC6A-4B0A-4C2D-83FE-A1D780F8A1F5}" presName="text" presStyleLbl="fgAcc0" presStyleIdx="2" presStyleCnt="4">
        <dgm:presLayoutVars>
          <dgm:chPref val="3"/>
        </dgm:presLayoutVars>
      </dgm:prSet>
      <dgm:spPr/>
    </dgm:pt>
    <dgm:pt modelId="{157BCF3A-739C-4B95-A2AA-D17A09323669}" type="pres">
      <dgm:prSet presAssocID="{B02DAC6A-4B0A-4C2D-83FE-A1D780F8A1F5}" presName="hierChild2" presStyleCnt="0"/>
      <dgm:spPr/>
    </dgm:pt>
    <dgm:pt modelId="{BB6F0347-7758-40FD-A887-FE7796DFB6E6}" type="pres">
      <dgm:prSet presAssocID="{25C8BC7A-BAE6-4228-A84E-C2D934118C23}" presName="hierRoot1" presStyleCnt="0"/>
      <dgm:spPr/>
    </dgm:pt>
    <dgm:pt modelId="{4FAA8E03-02DE-4405-9DFD-B89AD2C20742}" type="pres">
      <dgm:prSet presAssocID="{25C8BC7A-BAE6-4228-A84E-C2D934118C23}" presName="composite" presStyleCnt="0"/>
      <dgm:spPr/>
    </dgm:pt>
    <dgm:pt modelId="{A4906864-343C-4061-BC6D-3A4AE90AAFA6}" type="pres">
      <dgm:prSet presAssocID="{25C8BC7A-BAE6-4228-A84E-C2D934118C23}" presName="background" presStyleLbl="node0" presStyleIdx="3" presStyleCnt="4"/>
      <dgm:spPr/>
    </dgm:pt>
    <dgm:pt modelId="{AA071046-C9B1-49BC-BDF8-5D0008A9DCB9}" type="pres">
      <dgm:prSet presAssocID="{25C8BC7A-BAE6-4228-A84E-C2D934118C23}" presName="text" presStyleLbl="fgAcc0" presStyleIdx="3" presStyleCnt="4">
        <dgm:presLayoutVars>
          <dgm:chPref val="3"/>
        </dgm:presLayoutVars>
      </dgm:prSet>
      <dgm:spPr/>
    </dgm:pt>
    <dgm:pt modelId="{059E36CA-BE16-4683-A6ED-B71A45AE2623}" type="pres">
      <dgm:prSet presAssocID="{25C8BC7A-BAE6-4228-A84E-C2D934118C23}" presName="hierChild2" presStyleCnt="0"/>
      <dgm:spPr/>
    </dgm:pt>
  </dgm:ptLst>
  <dgm:cxnLst>
    <dgm:cxn modelId="{B0158C09-453E-45DD-8E0C-A268BAD646F4}" srcId="{54836EA6-C51C-49B2-8372-7B00938E24F3}" destId="{25C8BC7A-BAE6-4228-A84E-C2D934118C23}" srcOrd="3" destOrd="0" parTransId="{669783F1-FD36-4120-9743-A134F2C44E42}" sibTransId="{EB13C5D2-51E7-4C00-ACA8-5EEFD20C877B}"/>
    <dgm:cxn modelId="{50840E19-856B-49E0-A9E3-4002A65BC410}" type="presOf" srcId="{25C8BC7A-BAE6-4228-A84E-C2D934118C23}" destId="{AA071046-C9B1-49BC-BDF8-5D0008A9DCB9}" srcOrd="0" destOrd="0" presId="urn:microsoft.com/office/officeart/2005/8/layout/hierarchy1"/>
    <dgm:cxn modelId="{547AF961-A51F-481E-84AA-5EE903DCF5B1}" type="presOf" srcId="{B02DAC6A-4B0A-4C2D-83FE-A1D780F8A1F5}" destId="{026DD0D0-3211-47CB-B5DB-CA29E8B07729}" srcOrd="0" destOrd="0" presId="urn:microsoft.com/office/officeart/2005/8/layout/hierarchy1"/>
    <dgm:cxn modelId="{32DD187A-50FF-457B-8773-DA0D9428A5AD}" type="presOf" srcId="{54836EA6-C51C-49B2-8372-7B00938E24F3}" destId="{9AB1B376-77BC-45CC-98CE-E90C001B020A}" srcOrd="0" destOrd="0" presId="urn:microsoft.com/office/officeart/2005/8/layout/hierarchy1"/>
    <dgm:cxn modelId="{B9BAB587-5968-4C04-9B57-554598942829}" srcId="{54836EA6-C51C-49B2-8372-7B00938E24F3}" destId="{B02DAC6A-4B0A-4C2D-83FE-A1D780F8A1F5}" srcOrd="2" destOrd="0" parTransId="{52C41691-771C-4F37-9E99-28946D1085B8}" sibTransId="{0A91B4B6-A1E2-444A-B8FF-DFED8E45E102}"/>
    <dgm:cxn modelId="{265C5DA1-BA42-4BFB-A18A-C8FCA2CF3424}" type="presOf" srcId="{5A6803A3-7733-4CD8-9E46-F1E9E1E6CA75}" destId="{91AD28AA-3C35-4D83-AABD-E76AE3898291}" srcOrd="0" destOrd="0" presId="urn:microsoft.com/office/officeart/2005/8/layout/hierarchy1"/>
    <dgm:cxn modelId="{D0B4CDAD-8956-4844-A180-9A89E51E1FB6}" srcId="{54836EA6-C51C-49B2-8372-7B00938E24F3}" destId="{5A6803A3-7733-4CD8-9E46-F1E9E1E6CA75}" srcOrd="1" destOrd="0" parTransId="{1BC41A9F-CBF1-4F62-AA66-D84D60E0408E}" sibTransId="{47EBBCE1-003D-4800-8755-C1B165ACA9D3}"/>
    <dgm:cxn modelId="{7B321FBF-E984-4E36-9031-7F67E33FD630}" srcId="{54836EA6-C51C-49B2-8372-7B00938E24F3}" destId="{5593C1F8-090B-452F-A34C-7C732DCA3E69}" srcOrd="0" destOrd="0" parTransId="{10A19199-8F63-49F5-8423-269480231185}" sibTransId="{68D71B4F-59F5-46CE-8380-2BAE04323E7F}"/>
    <dgm:cxn modelId="{6F7C0CFF-9655-469A-9D40-29266296C442}" type="presOf" srcId="{5593C1F8-090B-452F-A34C-7C732DCA3E69}" destId="{1BAA5A07-0AFC-4603-91DE-CC005F57598F}" srcOrd="0" destOrd="0" presId="urn:microsoft.com/office/officeart/2005/8/layout/hierarchy1"/>
    <dgm:cxn modelId="{2CB17C0E-525B-4B0A-939B-18FD882083B2}" type="presParOf" srcId="{9AB1B376-77BC-45CC-98CE-E90C001B020A}" destId="{8811C71A-6D51-4B72-BB0A-16FC6EA2C2AF}" srcOrd="0" destOrd="0" presId="urn:microsoft.com/office/officeart/2005/8/layout/hierarchy1"/>
    <dgm:cxn modelId="{38713356-318C-4132-AA12-F207E189C750}" type="presParOf" srcId="{8811C71A-6D51-4B72-BB0A-16FC6EA2C2AF}" destId="{73D410AD-DA0C-478C-B6C0-4975258162EF}" srcOrd="0" destOrd="0" presId="urn:microsoft.com/office/officeart/2005/8/layout/hierarchy1"/>
    <dgm:cxn modelId="{3335B1F6-7B79-4204-8A02-ACF3A7AC4045}" type="presParOf" srcId="{73D410AD-DA0C-478C-B6C0-4975258162EF}" destId="{91DA9FC9-130C-432C-B78F-1744291A432F}" srcOrd="0" destOrd="0" presId="urn:microsoft.com/office/officeart/2005/8/layout/hierarchy1"/>
    <dgm:cxn modelId="{58458BCD-473C-4E0E-9242-16F79851E126}" type="presParOf" srcId="{73D410AD-DA0C-478C-B6C0-4975258162EF}" destId="{1BAA5A07-0AFC-4603-91DE-CC005F57598F}" srcOrd="1" destOrd="0" presId="urn:microsoft.com/office/officeart/2005/8/layout/hierarchy1"/>
    <dgm:cxn modelId="{4AB9724F-E818-4748-A9EF-E74B3BCA842E}" type="presParOf" srcId="{8811C71A-6D51-4B72-BB0A-16FC6EA2C2AF}" destId="{D185F314-DBAF-49DC-86FD-26C74F0EBBFE}" srcOrd="1" destOrd="0" presId="urn:microsoft.com/office/officeart/2005/8/layout/hierarchy1"/>
    <dgm:cxn modelId="{00251313-1B0B-420E-BAD4-B263668A4FCF}" type="presParOf" srcId="{9AB1B376-77BC-45CC-98CE-E90C001B020A}" destId="{D6F6806A-D4BE-4F5D-9E30-890E9AAC888A}" srcOrd="1" destOrd="0" presId="urn:microsoft.com/office/officeart/2005/8/layout/hierarchy1"/>
    <dgm:cxn modelId="{608300C3-FD53-47A6-9696-61773B88A80D}" type="presParOf" srcId="{D6F6806A-D4BE-4F5D-9E30-890E9AAC888A}" destId="{740CD080-E056-4F09-AB1A-EB01E4EC0307}" srcOrd="0" destOrd="0" presId="urn:microsoft.com/office/officeart/2005/8/layout/hierarchy1"/>
    <dgm:cxn modelId="{C197DE5D-FF2D-45EE-BDD0-FCD3DEE31AF0}" type="presParOf" srcId="{740CD080-E056-4F09-AB1A-EB01E4EC0307}" destId="{C85DBF14-3235-4351-A3A8-14D112C84B71}" srcOrd="0" destOrd="0" presId="urn:microsoft.com/office/officeart/2005/8/layout/hierarchy1"/>
    <dgm:cxn modelId="{0C1F92CD-3E84-43EF-91AF-EC7359DAD4E7}" type="presParOf" srcId="{740CD080-E056-4F09-AB1A-EB01E4EC0307}" destId="{91AD28AA-3C35-4D83-AABD-E76AE3898291}" srcOrd="1" destOrd="0" presId="urn:microsoft.com/office/officeart/2005/8/layout/hierarchy1"/>
    <dgm:cxn modelId="{779C4F98-3BD4-4A25-BF75-4542899BF635}" type="presParOf" srcId="{D6F6806A-D4BE-4F5D-9E30-890E9AAC888A}" destId="{567E84C6-172B-402F-B4A3-0CD5857C1082}" srcOrd="1" destOrd="0" presId="urn:microsoft.com/office/officeart/2005/8/layout/hierarchy1"/>
    <dgm:cxn modelId="{B2582EA0-70EC-420E-8203-0C9F255047C0}" type="presParOf" srcId="{9AB1B376-77BC-45CC-98CE-E90C001B020A}" destId="{D3A9323D-CB5D-4D8F-B333-00C9C0370304}" srcOrd="2" destOrd="0" presId="urn:microsoft.com/office/officeart/2005/8/layout/hierarchy1"/>
    <dgm:cxn modelId="{D76B83DA-1BB2-4B42-BA30-2F7698F0FECA}" type="presParOf" srcId="{D3A9323D-CB5D-4D8F-B333-00C9C0370304}" destId="{3764366F-DEE1-4EB2-A00D-F0C4682717F8}" srcOrd="0" destOrd="0" presId="urn:microsoft.com/office/officeart/2005/8/layout/hierarchy1"/>
    <dgm:cxn modelId="{A4B56F36-1EA8-4435-8769-9E413099B135}" type="presParOf" srcId="{3764366F-DEE1-4EB2-A00D-F0C4682717F8}" destId="{B4BB885E-9FE6-484C-8E57-764220F806EC}" srcOrd="0" destOrd="0" presId="urn:microsoft.com/office/officeart/2005/8/layout/hierarchy1"/>
    <dgm:cxn modelId="{439C7A1E-7808-407A-90AE-3950A01865C2}" type="presParOf" srcId="{3764366F-DEE1-4EB2-A00D-F0C4682717F8}" destId="{026DD0D0-3211-47CB-B5DB-CA29E8B07729}" srcOrd="1" destOrd="0" presId="urn:microsoft.com/office/officeart/2005/8/layout/hierarchy1"/>
    <dgm:cxn modelId="{1AE767CB-D29B-43CF-9861-CED001A9E07E}" type="presParOf" srcId="{D3A9323D-CB5D-4D8F-B333-00C9C0370304}" destId="{157BCF3A-739C-4B95-A2AA-D17A09323669}" srcOrd="1" destOrd="0" presId="urn:microsoft.com/office/officeart/2005/8/layout/hierarchy1"/>
    <dgm:cxn modelId="{ADA7C3C1-3CD9-410A-BE1A-31C94484DB6B}" type="presParOf" srcId="{9AB1B376-77BC-45CC-98CE-E90C001B020A}" destId="{BB6F0347-7758-40FD-A887-FE7796DFB6E6}" srcOrd="3" destOrd="0" presId="urn:microsoft.com/office/officeart/2005/8/layout/hierarchy1"/>
    <dgm:cxn modelId="{2AB5B5F0-932E-4AEA-946D-0B2732DFAFE5}" type="presParOf" srcId="{BB6F0347-7758-40FD-A887-FE7796DFB6E6}" destId="{4FAA8E03-02DE-4405-9DFD-B89AD2C20742}" srcOrd="0" destOrd="0" presId="urn:microsoft.com/office/officeart/2005/8/layout/hierarchy1"/>
    <dgm:cxn modelId="{975B726A-C6F6-45ED-9EF1-26867979FB1E}" type="presParOf" srcId="{4FAA8E03-02DE-4405-9DFD-B89AD2C20742}" destId="{A4906864-343C-4061-BC6D-3A4AE90AAFA6}" srcOrd="0" destOrd="0" presId="urn:microsoft.com/office/officeart/2005/8/layout/hierarchy1"/>
    <dgm:cxn modelId="{B81CCC8C-C5CF-4972-9DF0-AEFC1369FF43}" type="presParOf" srcId="{4FAA8E03-02DE-4405-9DFD-B89AD2C20742}" destId="{AA071046-C9B1-49BC-BDF8-5D0008A9DCB9}" srcOrd="1" destOrd="0" presId="urn:microsoft.com/office/officeart/2005/8/layout/hierarchy1"/>
    <dgm:cxn modelId="{DFDD1C27-DCF0-4A27-843D-BE8EAF9A2692}" type="presParOf" srcId="{BB6F0347-7758-40FD-A887-FE7796DFB6E6}" destId="{059E36CA-BE16-4683-A6ED-B71A45AE262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705419-E5A0-498A-B6D5-9488C6A1E5AA}"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5CC6369-21DC-48C1-ADBE-5622569C56F9}">
      <dgm:prSet/>
      <dgm:spPr/>
      <dgm:t>
        <a:bodyPr/>
        <a:lstStyle/>
        <a:p>
          <a:r>
            <a:rPr lang="en-US" dirty="0"/>
            <a:t>The TED Talks dataset consists of a large number of talks, each with associated metadata such as the topic, speaker, and duration. </a:t>
          </a:r>
        </a:p>
      </dgm:t>
    </dgm:pt>
    <dgm:pt modelId="{71A5D9FF-C303-4DDC-9668-C0A716276239}" type="parTrans" cxnId="{6044CB05-4EAD-4257-9404-99B972A3BAFD}">
      <dgm:prSet/>
      <dgm:spPr/>
      <dgm:t>
        <a:bodyPr/>
        <a:lstStyle/>
        <a:p>
          <a:endParaRPr lang="en-US"/>
        </a:p>
      </dgm:t>
    </dgm:pt>
    <dgm:pt modelId="{58B07D9E-9205-403F-ADA5-E79F071D7D1E}" type="sibTrans" cxnId="{6044CB05-4EAD-4257-9404-99B972A3BAFD}">
      <dgm:prSet/>
      <dgm:spPr/>
      <dgm:t>
        <a:bodyPr/>
        <a:lstStyle/>
        <a:p>
          <a:endParaRPr lang="en-US"/>
        </a:p>
      </dgm:t>
    </dgm:pt>
    <dgm:pt modelId="{36DFEDEC-24F4-49D3-9330-51F28F04D93E}">
      <dgm:prSet/>
      <dgm:spPr/>
      <dgm:t>
        <a:bodyPr/>
        <a:lstStyle/>
        <a:p>
          <a:r>
            <a:rPr lang="en-US"/>
            <a:t>Matrix factorization an effectively captured the latent factors that influence a user's preferences and an item's characteristics.The matrix factorization algorithm could discover that a user is interested in talks about technology and entrepreneurship, and that certain TED Talks are focused on these topics, even if the user has not watched or rated those specific talks.</a:t>
          </a:r>
        </a:p>
      </dgm:t>
    </dgm:pt>
    <dgm:pt modelId="{CF45154F-124C-4F39-94A5-75702207B230}" type="parTrans" cxnId="{3697F98F-BEA6-4B58-815D-550522BB8B01}">
      <dgm:prSet/>
      <dgm:spPr/>
      <dgm:t>
        <a:bodyPr/>
        <a:lstStyle/>
        <a:p>
          <a:endParaRPr lang="en-US"/>
        </a:p>
      </dgm:t>
    </dgm:pt>
    <dgm:pt modelId="{07FBC348-8F69-43C2-B023-5B36A8061DA9}" type="sibTrans" cxnId="{3697F98F-BEA6-4B58-815D-550522BB8B01}">
      <dgm:prSet/>
      <dgm:spPr/>
      <dgm:t>
        <a:bodyPr/>
        <a:lstStyle/>
        <a:p>
          <a:endParaRPr lang="en-US"/>
        </a:p>
      </dgm:t>
    </dgm:pt>
    <dgm:pt modelId="{79AF6A21-5886-431B-B479-426236A758F2}">
      <dgm:prSet/>
      <dgm:spPr/>
      <dgm:t>
        <a:bodyPr/>
        <a:lstStyle/>
        <a:p>
          <a:r>
            <a:rPr lang="en-US" b="1" dirty="0"/>
            <a:t>Matrix factorization</a:t>
          </a:r>
          <a:r>
            <a:rPr lang="en-US" dirty="0"/>
            <a:t> is considered to be one of the most effective algorithms for recommendation systems, especially when dealing with large, sparse datasets with implicit feedback. Matrix factorization can capture the latent factors that influence the user's preferences and the item's characteristics, which can be used to make accurate personalized recommendations. Additionally, matrix factorization can be combined with other techniques, such as regularization, to prevent overfitting and improve the generalization of the model.</a:t>
          </a:r>
        </a:p>
      </dgm:t>
    </dgm:pt>
    <dgm:pt modelId="{49E09C2D-94CA-418F-9EB8-ACD9F418AA15}" type="parTrans" cxnId="{955C8ED4-414E-42F2-8EBD-E6D6E295BC7A}">
      <dgm:prSet/>
      <dgm:spPr/>
      <dgm:t>
        <a:bodyPr/>
        <a:lstStyle/>
        <a:p>
          <a:endParaRPr lang="en-US"/>
        </a:p>
      </dgm:t>
    </dgm:pt>
    <dgm:pt modelId="{55111A05-0D6C-475A-9192-2CB47753D6CD}" type="sibTrans" cxnId="{955C8ED4-414E-42F2-8EBD-E6D6E295BC7A}">
      <dgm:prSet/>
      <dgm:spPr/>
      <dgm:t>
        <a:bodyPr/>
        <a:lstStyle/>
        <a:p>
          <a:endParaRPr lang="en-US"/>
        </a:p>
      </dgm:t>
    </dgm:pt>
    <dgm:pt modelId="{6FD00B38-107B-41E6-B2BE-D276F6499AC2}">
      <dgm:prSet/>
      <dgm:spPr/>
      <dgm:t>
        <a:bodyPr/>
        <a:lstStyle/>
        <a:p>
          <a:r>
            <a:rPr lang="en-US"/>
            <a:t>However, it is important to note that matrix factorization may not perform well for newer or less popular TED Talks, as these may not have enough data points to accurately capture their latent factors. In this case, </a:t>
          </a:r>
          <a:r>
            <a:rPr lang="en-US" b="1"/>
            <a:t>Collaborative filtering </a:t>
          </a:r>
          <a:r>
            <a:rPr lang="en-US"/>
            <a:t>or </a:t>
          </a:r>
          <a:r>
            <a:rPr lang="en-US" b="1"/>
            <a:t>Content-based filtering</a:t>
          </a:r>
          <a:r>
            <a:rPr lang="en-US"/>
            <a:t> could potentially be effective alternatives</a:t>
          </a:r>
        </a:p>
      </dgm:t>
    </dgm:pt>
    <dgm:pt modelId="{DB8227D6-8437-4718-93B0-F06A5C4968EF}" type="parTrans" cxnId="{94F44E9F-14C8-4A5A-822C-E76C896A8CD1}">
      <dgm:prSet/>
      <dgm:spPr/>
      <dgm:t>
        <a:bodyPr/>
        <a:lstStyle/>
        <a:p>
          <a:endParaRPr lang="en-US"/>
        </a:p>
      </dgm:t>
    </dgm:pt>
    <dgm:pt modelId="{1310DCE6-D473-4DC6-A7C1-72514F28A66C}" type="sibTrans" cxnId="{94F44E9F-14C8-4A5A-822C-E76C896A8CD1}">
      <dgm:prSet/>
      <dgm:spPr/>
      <dgm:t>
        <a:bodyPr/>
        <a:lstStyle/>
        <a:p>
          <a:endParaRPr lang="en-US"/>
        </a:p>
      </dgm:t>
    </dgm:pt>
    <dgm:pt modelId="{8AD4C226-1B1F-437B-9815-EFAF8F2645D7}" type="pres">
      <dgm:prSet presAssocID="{26705419-E5A0-498A-B6D5-9488C6A1E5AA}" presName="outerComposite" presStyleCnt="0">
        <dgm:presLayoutVars>
          <dgm:chMax val="5"/>
          <dgm:dir/>
          <dgm:resizeHandles val="exact"/>
        </dgm:presLayoutVars>
      </dgm:prSet>
      <dgm:spPr/>
    </dgm:pt>
    <dgm:pt modelId="{CC263F2E-CB49-47F1-82AE-1F41D9BE90D7}" type="pres">
      <dgm:prSet presAssocID="{26705419-E5A0-498A-B6D5-9488C6A1E5AA}" presName="dummyMaxCanvas" presStyleCnt="0">
        <dgm:presLayoutVars/>
      </dgm:prSet>
      <dgm:spPr/>
    </dgm:pt>
    <dgm:pt modelId="{D7FF2D48-F2F4-49A5-8CDF-21F7FCCBA59D}" type="pres">
      <dgm:prSet presAssocID="{26705419-E5A0-498A-B6D5-9488C6A1E5AA}" presName="FourNodes_1" presStyleLbl="node1" presStyleIdx="0" presStyleCnt="4">
        <dgm:presLayoutVars>
          <dgm:bulletEnabled val="1"/>
        </dgm:presLayoutVars>
      </dgm:prSet>
      <dgm:spPr/>
    </dgm:pt>
    <dgm:pt modelId="{4B20F5DA-047A-4895-B9A0-A7E6ABF7F0BD}" type="pres">
      <dgm:prSet presAssocID="{26705419-E5A0-498A-B6D5-9488C6A1E5AA}" presName="FourNodes_2" presStyleLbl="node1" presStyleIdx="1" presStyleCnt="4">
        <dgm:presLayoutVars>
          <dgm:bulletEnabled val="1"/>
        </dgm:presLayoutVars>
      </dgm:prSet>
      <dgm:spPr/>
    </dgm:pt>
    <dgm:pt modelId="{B2608583-6891-4558-8855-D33D4B038625}" type="pres">
      <dgm:prSet presAssocID="{26705419-E5A0-498A-B6D5-9488C6A1E5AA}" presName="FourNodes_3" presStyleLbl="node1" presStyleIdx="2" presStyleCnt="4">
        <dgm:presLayoutVars>
          <dgm:bulletEnabled val="1"/>
        </dgm:presLayoutVars>
      </dgm:prSet>
      <dgm:spPr/>
    </dgm:pt>
    <dgm:pt modelId="{8B7701E8-1E64-44D0-9559-0087461ED4B0}" type="pres">
      <dgm:prSet presAssocID="{26705419-E5A0-498A-B6D5-9488C6A1E5AA}" presName="FourNodes_4" presStyleLbl="node1" presStyleIdx="3" presStyleCnt="4">
        <dgm:presLayoutVars>
          <dgm:bulletEnabled val="1"/>
        </dgm:presLayoutVars>
      </dgm:prSet>
      <dgm:spPr/>
    </dgm:pt>
    <dgm:pt modelId="{37269055-67A1-4D7F-8AD6-4D9BEA5B1C47}" type="pres">
      <dgm:prSet presAssocID="{26705419-E5A0-498A-B6D5-9488C6A1E5AA}" presName="FourConn_1-2" presStyleLbl="fgAccFollowNode1" presStyleIdx="0" presStyleCnt="3">
        <dgm:presLayoutVars>
          <dgm:bulletEnabled val="1"/>
        </dgm:presLayoutVars>
      </dgm:prSet>
      <dgm:spPr/>
    </dgm:pt>
    <dgm:pt modelId="{FD11238E-4638-4A37-A682-D6241B23BC64}" type="pres">
      <dgm:prSet presAssocID="{26705419-E5A0-498A-B6D5-9488C6A1E5AA}" presName="FourConn_2-3" presStyleLbl="fgAccFollowNode1" presStyleIdx="1" presStyleCnt="3">
        <dgm:presLayoutVars>
          <dgm:bulletEnabled val="1"/>
        </dgm:presLayoutVars>
      </dgm:prSet>
      <dgm:spPr/>
    </dgm:pt>
    <dgm:pt modelId="{F2110269-0F9E-4D7D-93D0-401E4D32D93F}" type="pres">
      <dgm:prSet presAssocID="{26705419-E5A0-498A-B6D5-9488C6A1E5AA}" presName="FourConn_3-4" presStyleLbl="fgAccFollowNode1" presStyleIdx="2" presStyleCnt="3">
        <dgm:presLayoutVars>
          <dgm:bulletEnabled val="1"/>
        </dgm:presLayoutVars>
      </dgm:prSet>
      <dgm:spPr/>
    </dgm:pt>
    <dgm:pt modelId="{994B926B-6BF8-48AB-9142-84A4609F3E28}" type="pres">
      <dgm:prSet presAssocID="{26705419-E5A0-498A-B6D5-9488C6A1E5AA}" presName="FourNodes_1_text" presStyleLbl="node1" presStyleIdx="3" presStyleCnt="4">
        <dgm:presLayoutVars>
          <dgm:bulletEnabled val="1"/>
        </dgm:presLayoutVars>
      </dgm:prSet>
      <dgm:spPr/>
    </dgm:pt>
    <dgm:pt modelId="{7DF20D06-4E56-4F35-B92D-DEC37D16ADE8}" type="pres">
      <dgm:prSet presAssocID="{26705419-E5A0-498A-B6D5-9488C6A1E5AA}" presName="FourNodes_2_text" presStyleLbl="node1" presStyleIdx="3" presStyleCnt="4">
        <dgm:presLayoutVars>
          <dgm:bulletEnabled val="1"/>
        </dgm:presLayoutVars>
      </dgm:prSet>
      <dgm:spPr/>
    </dgm:pt>
    <dgm:pt modelId="{94AC03D2-7C2D-4266-8301-903F0048F730}" type="pres">
      <dgm:prSet presAssocID="{26705419-E5A0-498A-B6D5-9488C6A1E5AA}" presName="FourNodes_3_text" presStyleLbl="node1" presStyleIdx="3" presStyleCnt="4">
        <dgm:presLayoutVars>
          <dgm:bulletEnabled val="1"/>
        </dgm:presLayoutVars>
      </dgm:prSet>
      <dgm:spPr/>
    </dgm:pt>
    <dgm:pt modelId="{7DC13468-3791-405C-854E-FB646CA17B42}" type="pres">
      <dgm:prSet presAssocID="{26705419-E5A0-498A-B6D5-9488C6A1E5AA}" presName="FourNodes_4_text" presStyleLbl="node1" presStyleIdx="3" presStyleCnt="4">
        <dgm:presLayoutVars>
          <dgm:bulletEnabled val="1"/>
        </dgm:presLayoutVars>
      </dgm:prSet>
      <dgm:spPr/>
    </dgm:pt>
  </dgm:ptLst>
  <dgm:cxnLst>
    <dgm:cxn modelId="{F2911305-57D8-4C81-8FF6-C7BA9071E9DF}" type="presOf" srcId="{6FD00B38-107B-41E6-B2BE-D276F6499AC2}" destId="{8B7701E8-1E64-44D0-9559-0087461ED4B0}" srcOrd="0" destOrd="0" presId="urn:microsoft.com/office/officeart/2005/8/layout/vProcess5"/>
    <dgm:cxn modelId="{D8B12B05-3752-4284-B056-D137A9BDD200}" type="presOf" srcId="{36DFEDEC-24F4-49D3-9330-51F28F04D93E}" destId="{7DF20D06-4E56-4F35-B92D-DEC37D16ADE8}" srcOrd="1" destOrd="0" presId="urn:microsoft.com/office/officeart/2005/8/layout/vProcess5"/>
    <dgm:cxn modelId="{6044CB05-4EAD-4257-9404-99B972A3BAFD}" srcId="{26705419-E5A0-498A-B6D5-9488C6A1E5AA}" destId="{85CC6369-21DC-48C1-ADBE-5622569C56F9}" srcOrd="0" destOrd="0" parTransId="{71A5D9FF-C303-4DDC-9668-C0A716276239}" sibTransId="{58B07D9E-9205-403F-ADA5-E79F071D7D1E}"/>
    <dgm:cxn modelId="{7426F705-B420-4140-B4F7-A8BEA69BCA5C}" type="presOf" srcId="{85CC6369-21DC-48C1-ADBE-5622569C56F9}" destId="{D7FF2D48-F2F4-49A5-8CDF-21F7FCCBA59D}" srcOrd="0" destOrd="0" presId="urn:microsoft.com/office/officeart/2005/8/layout/vProcess5"/>
    <dgm:cxn modelId="{EBD58314-B204-4A71-A0E1-B0C13C2E3027}" type="presOf" srcId="{26705419-E5A0-498A-B6D5-9488C6A1E5AA}" destId="{8AD4C226-1B1F-437B-9815-EFAF8F2645D7}" srcOrd="0" destOrd="0" presId="urn:microsoft.com/office/officeart/2005/8/layout/vProcess5"/>
    <dgm:cxn modelId="{2BA1F726-C7FF-4E5E-B64D-C7058386B7CC}" type="presOf" srcId="{07FBC348-8F69-43C2-B023-5B36A8061DA9}" destId="{FD11238E-4638-4A37-A682-D6241B23BC64}" srcOrd="0" destOrd="0" presId="urn:microsoft.com/office/officeart/2005/8/layout/vProcess5"/>
    <dgm:cxn modelId="{655F5F66-1402-436B-B74B-5C412676054E}" type="presOf" srcId="{85CC6369-21DC-48C1-ADBE-5622569C56F9}" destId="{994B926B-6BF8-48AB-9142-84A4609F3E28}" srcOrd="1" destOrd="0" presId="urn:microsoft.com/office/officeart/2005/8/layout/vProcess5"/>
    <dgm:cxn modelId="{92B3346F-FEF7-4C98-AFDE-171B12D408A0}" type="presOf" srcId="{79AF6A21-5886-431B-B479-426236A758F2}" destId="{94AC03D2-7C2D-4266-8301-903F0048F730}" srcOrd="1" destOrd="0" presId="urn:microsoft.com/office/officeart/2005/8/layout/vProcess5"/>
    <dgm:cxn modelId="{00F29459-DF81-4059-8EE0-F3BE705F31A6}" type="presOf" srcId="{36DFEDEC-24F4-49D3-9330-51F28F04D93E}" destId="{4B20F5DA-047A-4895-B9A0-A7E6ABF7F0BD}" srcOrd="0" destOrd="0" presId="urn:microsoft.com/office/officeart/2005/8/layout/vProcess5"/>
    <dgm:cxn modelId="{3697F98F-BEA6-4B58-815D-550522BB8B01}" srcId="{26705419-E5A0-498A-B6D5-9488C6A1E5AA}" destId="{36DFEDEC-24F4-49D3-9330-51F28F04D93E}" srcOrd="1" destOrd="0" parTransId="{CF45154F-124C-4F39-94A5-75702207B230}" sibTransId="{07FBC348-8F69-43C2-B023-5B36A8061DA9}"/>
    <dgm:cxn modelId="{5FA30697-9946-405E-B4DD-E5D5AB97A88E}" type="presOf" srcId="{58B07D9E-9205-403F-ADA5-E79F071D7D1E}" destId="{37269055-67A1-4D7F-8AD6-4D9BEA5B1C47}" srcOrd="0" destOrd="0" presId="urn:microsoft.com/office/officeart/2005/8/layout/vProcess5"/>
    <dgm:cxn modelId="{94F44E9F-14C8-4A5A-822C-E76C896A8CD1}" srcId="{26705419-E5A0-498A-B6D5-9488C6A1E5AA}" destId="{6FD00B38-107B-41E6-B2BE-D276F6499AC2}" srcOrd="3" destOrd="0" parTransId="{DB8227D6-8437-4718-93B0-F06A5C4968EF}" sibTransId="{1310DCE6-D473-4DC6-A7C1-72514F28A66C}"/>
    <dgm:cxn modelId="{FA7505CE-1AD7-4135-9A2E-2DE8390A91D4}" type="presOf" srcId="{79AF6A21-5886-431B-B479-426236A758F2}" destId="{B2608583-6891-4558-8855-D33D4B038625}" srcOrd="0" destOrd="0" presId="urn:microsoft.com/office/officeart/2005/8/layout/vProcess5"/>
    <dgm:cxn modelId="{955C8ED4-414E-42F2-8EBD-E6D6E295BC7A}" srcId="{26705419-E5A0-498A-B6D5-9488C6A1E5AA}" destId="{79AF6A21-5886-431B-B479-426236A758F2}" srcOrd="2" destOrd="0" parTransId="{49E09C2D-94CA-418F-9EB8-ACD9F418AA15}" sibTransId="{55111A05-0D6C-475A-9192-2CB47753D6CD}"/>
    <dgm:cxn modelId="{FA375FD6-6B0C-4CEA-B267-5C1940FD2EA2}" type="presOf" srcId="{6FD00B38-107B-41E6-B2BE-D276F6499AC2}" destId="{7DC13468-3791-405C-854E-FB646CA17B42}" srcOrd="1" destOrd="0" presId="urn:microsoft.com/office/officeart/2005/8/layout/vProcess5"/>
    <dgm:cxn modelId="{04872DEA-E49B-4F9B-8FB4-442823E902BE}" type="presOf" srcId="{55111A05-0D6C-475A-9192-2CB47753D6CD}" destId="{F2110269-0F9E-4D7D-93D0-401E4D32D93F}" srcOrd="0" destOrd="0" presId="urn:microsoft.com/office/officeart/2005/8/layout/vProcess5"/>
    <dgm:cxn modelId="{1910CC13-E07B-4340-932B-D163DC52B38E}" type="presParOf" srcId="{8AD4C226-1B1F-437B-9815-EFAF8F2645D7}" destId="{CC263F2E-CB49-47F1-82AE-1F41D9BE90D7}" srcOrd="0" destOrd="0" presId="urn:microsoft.com/office/officeart/2005/8/layout/vProcess5"/>
    <dgm:cxn modelId="{2A80A942-48CC-4733-A230-B5BE64E31432}" type="presParOf" srcId="{8AD4C226-1B1F-437B-9815-EFAF8F2645D7}" destId="{D7FF2D48-F2F4-49A5-8CDF-21F7FCCBA59D}" srcOrd="1" destOrd="0" presId="urn:microsoft.com/office/officeart/2005/8/layout/vProcess5"/>
    <dgm:cxn modelId="{AA87009F-3F5C-4BB6-B65D-D320D260EB6C}" type="presParOf" srcId="{8AD4C226-1B1F-437B-9815-EFAF8F2645D7}" destId="{4B20F5DA-047A-4895-B9A0-A7E6ABF7F0BD}" srcOrd="2" destOrd="0" presId="urn:microsoft.com/office/officeart/2005/8/layout/vProcess5"/>
    <dgm:cxn modelId="{B0D9880F-3324-4613-9289-E4A89DEB6106}" type="presParOf" srcId="{8AD4C226-1B1F-437B-9815-EFAF8F2645D7}" destId="{B2608583-6891-4558-8855-D33D4B038625}" srcOrd="3" destOrd="0" presId="urn:microsoft.com/office/officeart/2005/8/layout/vProcess5"/>
    <dgm:cxn modelId="{C2B00F91-B47A-459D-9A62-A26DCD60F723}" type="presParOf" srcId="{8AD4C226-1B1F-437B-9815-EFAF8F2645D7}" destId="{8B7701E8-1E64-44D0-9559-0087461ED4B0}" srcOrd="4" destOrd="0" presId="urn:microsoft.com/office/officeart/2005/8/layout/vProcess5"/>
    <dgm:cxn modelId="{F8677D36-748E-4468-81DF-7544DFD0F562}" type="presParOf" srcId="{8AD4C226-1B1F-437B-9815-EFAF8F2645D7}" destId="{37269055-67A1-4D7F-8AD6-4D9BEA5B1C47}" srcOrd="5" destOrd="0" presId="urn:microsoft.com/office/officeart/2005/8/layout/vProcess5"/>
    <dgm:cxn modelId="{58D702DE-A09D-4944-AFEB-5F5B3C418D02}" type="presParOf" srcId="{8AD4C226-1B1F-437B-9815-EFAF8F2645D7}" destId="{FD11238E-4638-4A37-A682-D6241B23BC64}" srcOrd="6" destOrd="0" presId="urn:microsoft.com/office/officeart/2005/8/layout/vProcess5"/>
    <dgm:cxn modelId="{875332D7-7910-4AE6-91CB-2D590F3114A5}" type="presParOf" srcId="{8AD4C226-1B1F-437B-9815-EFAF8F2645D7}" destId="{F2110269-0F9E-4D7D-93D0-401E4D32D93F}" srcOrd="7" destOrd="0" presId="urn:microsoft.com/office/officeart/2005/8/layout/vProcess5"/>
    <dgm:cxn modelId="{32DF5AE3-A5F6-46E2-8B0B-F76D2EDA67A8}" type="presParOf" srcId="{8AD4C226-1B1F-437B-9815-EFAF8F2645D7}" destId="{994B926B-6BF8-48AB-9142-84A4609F3E28}" srcOrd="8" destOrd="0" presId="urn:microsoft.com/office/officeart/2005/8/layout/vProcess5"/>
    <dgm:cxn modelId="{7EA355CE-D6A3-4679-BCFC-B6133B6EE023}" type="presParOf" srcId="{8AD4C226-1B1F-437B-9815-EFAF8F2645D7}" destId="{7DF20D06-4E56-4F35-B92D-DEC37D16ADE8}" srcOrd="9" destOrd="0" presId="urn:microsoft.com/office/officeart/2005/8/layout/vProcess5"/>
    <dgm:cxn modelId="{B2DE323A-AE17-4355-B36B-3682C3D14D89}" type="presParOf" srcId="{8AD4C226-1B1F-437B-9815-EFAF8F2645D7}" destId="{94AC03D2-7C2D-4266-8301-903F0048F730}" srcOrd="10" destOrd="0" presId="urn:microsoft.com/office/officeart/2005/8/layout/vProcess5"/>
    <dgm:cxn modelId="{8739B8E2-735F-46EC-8C6B-477D3458984A}" type="presParOf" srcId="{8AD4C226-1B1F-437B-9815-EFAF8F2645D7}" destId="{7DC13468-3791-405C-854E-FB646CA17B42}"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DA9FC9-130C-432C-B78F-1744291A432F}">
      <dsp:nvSpPr>
        <dsp:cNvPr id="0" name=""/>
        <dsp:cNvSpPr/>
      </dsp:nvSpPr>
      <dsp:spPr>
        <a:xfrm>
          <a:off x="2817"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AA5A07-0AFC-4603-91DE-CC005F57598F}">
      <dsp:nvSpPr>
        <dsp:cNvPr id="0" name=""/>
        <dsp:cNvSpPr/>
      </dsp:nvSpPr>
      <dsp:spPr>
        <a:xfrm>
          <a:off x="226364"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Clustering</a:t>
          </a:r>
        </a:p>
      </dsp:txBody>
      <dsp:txXfrm>
        <a:off x="263783" y="1551560"/>
        <a:ext cx="1937080" cy="1202729"/>
      </dsp:txXfrm>
    </dsp:sp>
    <dsp:sp modelId="{C85DBF14-3235-4351-A3A8-14D112C84B71}">
      <dsp:nvSpPr>
        <dsp:cNvPr id="0" name=""/>
        <dsp:cNvSpPr/>
      </dsp:nvSpPr>
      <dsp:spPr>
        <a:xfrm>
          <a:off x="2461828"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AD28AA-3C35-4D83-AABD-E76AE3898291}">
      <dsp:nvSpPr>
        <dsp:cNvPr id="0" name=""/>
        <dsp:cNvSpPr/>
      </dsp:nvSpPr>
      <dsp:spPr>
        <a:xfrm>
          <a:off x="2685375"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Colaborative Filtering</a:t>
          </a:r>
        </a:p>
      </dsp:txBody>
      <dsp:txXfrm>
        <a:off x="2722794" y="1551560"/>
        <a:ext cx="1937080" cy="1202729"/>
      </dsp:txXfrm>
    </dsp:sp>
    <dsp:sp modelId="{B4BB885E-9FE6-484C-8E57-764220F806EC}">
      <dsp:nvSpPr>
        <dsp:cNvPr id="0" name=""/>
        <dsp:cNvSpPr/>
      </dsp:nvSpPr>
      <dsp:spPr>
        <a:xfrm>
          <a:off x="4920839"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6DD0D0-3211-47CB-B5DB-CA29E8B07729}">
      <dsp:nvSpPr>
        <dsp:cNvPr id="0" name=""/>
        <dsp:cNvSpPr/>
      </dsp:nvSpPr>
      <dsp:spPr>
        <a:xfrm>
          <a:off x="5144386"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Content-Based Filtering</a:t>
          </a:r>
        </a:p>
      </dsp:txBody>
      <dsp:txXfrm>
        <a:off x="5181805" y="1551560"/>
        <a:ext cx="1937080" cy="1202729"/>
      </dsp:txXfrm>
    </dsp:sp>
    <dsp:sp modelId="{A4906864-343C-4061-BC6D-3A4AE90AAFA6}">
      <dsp:nvSpPr>
        <dsp:cNvPr id="0" name=""/>
        <dsp:cNvSpPr/>
      </dsp:nvSpPr>
      <dsp:spPr>
        <a:xfrm>
          <a:off x="7379850" y="1301772"/>
          <a:ext cx="2011918" cy="12775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071046-C9B1-49BC-BDF8-5D0008A9DCB9}">
      <dsp:nvSpPr>
        <dsp:cNvPr id="0" name=""/>
        <dsp:cNvSpPr/>
      </dsp:nvSpPr>
      <dsp:spPr>
        <a:xfrm>
          <a:off x="7603397" y="1514141"/>
          <a:ext cx="2011918" cy="127756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Matrix Factorization</a:t>
          </a:r>
        </a:p>
      </dsp:txBody>
      <dsp:txXfrm>
        <a:off x="7640816" y="1551560"/>
        <a:ext cx="1937080" cy="12027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FF2D48-F2F4-49A5-8CDF-21F7FCCBA59D}">
      <dsp:nvSpPr>
        <dsp:cNvPr id="0" name=""/>
        <dsp:cNvSpPr/>
      </dsp:nvSpPr>
      <dsp:spPr>
        <a:xfrm>
          <a:off x="0" y="0"/>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dirty="0"/>
            <a:t>The TED Talks dataset consists of a large number of talks, each with associated metadata such as the topic, speaker, and duration. </a:t>
          </a:r>
        </a:p>
      </dsp:txBody>
      <dsp:txXfrm>
        <a:off x="36292" y="36292"/>
        <a:ext cx="5338526" cy="1166524"/>
      </dsp:txXfrm>
    </dsp:sp>
    <dsp:sp modelId="{4B20F5DA-047A-4895-B9A0-A7E6ABF7F0BD}">
      <dsp:nvSpPr>
        <dsp:cNvPr id="0" name=""/>
        <dsp:cNvSpPr/>
      </dsp:nvSpPr>
      <dsp:spPr>
        <a:xfrm>
          <a:off x="567852" y="1464400"/>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Matrix factorization an effectively captured the latent factors that influence a user's preferences and an item's characteristics.The matrix factorization algorithm could discover that a user is interested in talks about technology and entrepreneurship, and that certain TED Talks are focused on these topics, even if the user has not watched or rated those specific talks.</a:t>
          </a:r>
        </a:p>
      </dsp:txBody>
      <dsp:txXfrm>
        <a:off x="604144" y="1500692"/>
        <a:ext cx="5334468" cy="1166524"/>
      </dsp:txXfrm>
    </dsp:sp>
    <dsp:sp modelId="{B2608583-6891-4558-8855-D33D4B038625}">
      <dsp:nvSpPr>
        <dsp:cNvPr id="0" name=""/>
        <dsp:cNvSpPr/>
      </dsp:nvSpPr>
      <dsp:spPr>
        <a:xfrm>
          <a:off x="1127229" y="2928801"/>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t>Matrix factorization</a:t>
          </a:r>
          <a:r>
            <a:rPr lang="en-US" sz="1100" kern="1200" dirty="0"/>
            <a:t> is considered to be one of the most effective algorithms for recommendation systems, especially when dealing with large, sparse datasets with implicit feedback. Matrix factorization can capture the latent factors that influence the user's preferences and the item's characteristics, which can be used to make accurate personalized recommendations. Additionally, matrix factorization can be combined with other techniques, such as regularization, to prevent overfitting and improve the generalization of the model.</a:t>
          </a:r>
        </a:p>
      </dsp:txBody>
      <dsp:txXfrm>
        <a:off x="1163521" y="2965093"/>
        <a:ext cx="5342944" cy="1166524"/>
      </dsp:txXfrm>
    </dsp:sp>
    <dsp:sp modelId="{8B7701E8-1E64-44D0-9559-0087461ED4B0}">
      <dsp:nvSpPr>
        <dsp:cNvPr id="0" name=""/>
        <dsp:cNvSpPr/>
      </dsp:nvSpPr>
      <dsp:spPr>
        <a:xfrm>
          <a:off x="1695081" y="4393202"/>
          <a:ext cx="6780325" cy="123910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However, it is important to note that matrix factorization may not perform well for newer or less popular TED Talks, as these may not have enough data points to accurately capture their latent factors. In this case, </a:t>
          </a:r>
          <a:r>
            <a:rPr lang="en-US" sz="1100" b="1" kern="1200"/>
            <a:t>Collaborative filtering </a:t>
          </a:r>
          <a:r>
            <a:rPr lang="en-US" sz="1100" kern="1200"/>
            <a:t>or </a:t>
          </a:r>
          <a:r>
            <a:rPr lang="en-US" sz="1100" b="1" kern="1200"/>
            <a:t>Content-based filtering</a:t>
          </a:r>
          <a:r>
            <a:rPr lang="en-US" sz="1100" kern="1200"/>
            <a:t> could potentially be effective alternatives</a:t>
          </a:r>
        </a:p>
      </dsp:txBody>
      <dsp:txXfrm>
        <a:off x="1731373" y="4429494"/>
        <a:ext cx="5334468" cy="1166524"/>
      </dsp:txXfrm>
    </dsp:sp>
    <dsp:sp modelId="{37269055-67A1-4D7F-8AD6-4D9BEA5B1C47}">
      <dsp:nvSpPr>
        <dsp:cNvPr id="0" name=""/>
        <dsp:cNvSpPr/>
      </dsp:nvSpPr>
      <dsp:spPr>
        <a:xfrm>
          <a:off x="5974905" y="949044"/>
          <a:ext cx="805420" cy="80542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156124" y="949044"/>
        <a:ext cx="442982" cy="606079"/>
      </dsp:txXfrm>
    </dsp:sp>
    <dsp:sp modelId="{FD11238E-4638-4A37-A682-D6241B23BC64}">
      <dsp:nvSpPr>
        <dsp:cNvPr id="0" name=""/>
        <dsp:cNvSpPr/>
      </dsp:nvSpPr>
      <dsp:spPr>
        <a:xfrm>
          <a:off x="6542757" y="2413445"/>
          <a:ext cx="805420" cy="80542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723976" y="2413445"/>
        <a:ext cx="442982" cy="606079"/>
      </dsp:txXfrm>
    </dsp:sp>
    <dsp:sp modelId="{F2110269-0F9E-4D7D-93D0-401E4D32D93F}">
      <dsp:nvSpPr>
        <dsp:cNvPr id="0" name=""/>
        <dsp:cNvSpPr/>
      </dsp:nvSpPr>
      <dsp:spPr>
        <a:xfrm>
          <a:off x="7102134" y="3877846"/>
          <a:ext cx="805420" cy="80542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283353" y="3877846"/>
        <a:ext cx="442982" cy="6060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774070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92447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2244792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742632-0AF3-4BF7-A761-81D72EC6CD5D}" type="datetimeFigureOut">
              <a:rPr lang="en-US" smtClean="0"/>
              <a:t>30-Apr-24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176651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42632-0AF3-4BF7-A761-81D72EC6CD5D}" type="datetimeFigureOut">
              <a:rPr lang="en-US" smtClean="0"/>
              <a:t>30-Apr-24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57244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742632-0AF3-4BF7-A761-81D72EC6CD5D}" type="datetimeFigureOut">
              <a:rPr lang="en-US" smtClean="0"/>
              <a:t>30-Apr-24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79090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42632-0AF3-4BF7-A761-81D72EC6CD5D}" type="datetimeFigureOut">
              <a:rPr lang="en-US" smtClean="0"/>
              <a:t>30-Apr-24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754087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742632-0AF3-4BF7-A761-81D72EC6CD5D}" type="datetimeFigureOut">
              <a:rPr lang="en-US" smtClean="0"/>
              <a:t>30-Apr-24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607200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742632-0AF3-4BF7-A761-81D72EC6CD5D}" type="datetimeFigureOut">
              <a:rPr lang="en-US" smtClean="0"/>
              <a:t>30-Apr-24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2386730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3265185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02671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119651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67821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2412209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168938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42632-0AF3-4BF7-A761-81D72EC6CD5D}" type="datetimeFigureOut">
              <a:rPr lang="en-US" smtClean="0"/>
              <a:t>30-Apr-24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C87EC-8ACA-441A-BA22-7EAEAB034C7E}" type="slidenum">
              <a:rPr lang="en-US" smtClean="0"/>
              <a:t>‹#›</a:t>
            </a:fld>
            <a:endParaRPr lang="en-US"/>
          </a:p>
        </p:txBody>
      </p:sp>
    </p:spTree>
    <p:extLst>
      <p:ext uri="{BB962C8B-B14F-4D97-AF65-F5344CB8AC3E}">
        <p14:creationId xmlns:p14="http://schemas.microsoft.com/office/powerpoint/2010/main" val="1599329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742632-0AF3-4BF7-A761-81D72EC6CD5D}" type="datetimeFigureOut">
              <a:rPr lang="en-US" smtClean="0"/>
              <a:t>30-Apr-24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A3C87EC-8ACA-441A-BA22-7EAEAB034C7E}" type="slidenum">
              <a:rPr lang="en-US" smtClean="0"/>
              <a:t>‹#›</a:t>
            </a:fld>
            <a:endParaRPr lang="en-US"/>
          </a:p>
        </p:txBody>
      </p:sp>
    </p:spTree>
    <p:extLst>
      <p:ext uri="{BB962C8B-B14F-4D97-AF65-F5344CB8AC3E}">
        <p14:creationId xmlns:p14="http://schemas.microsoft.com/office/powerpoint/2010/main" val="16593276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ikeerthibotla1@gmail.com"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rounakbanik/ted-talks?select=ted_main.csv"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Exclamation mark on a yellow background">
            <a:extLst>
              <a:ext uri="{FF2B5EF4-FFF2-40B4-BE49-F238E27FC236}">
                <a16:creationId xmlns:a16="http://schemas.microsoft.com/office/drawing/2014/main" id="{BE76AA61-1FD9-49DE-A045-EDEBE315302F}"/>
              </a:ext>
            </a:extLst>
          </p:cNvPr>
          <p:cNvPicPr>
            <a:picLocks noChangeAspect="1"/>
          </p:cNvPicPr>
          <p:nvPr/>
        </p:nvPicPr>
        <p:blipFill rotWithShape="1">
          <a:blip r:embed="rId2"/>
          <a:srcRect l="13140" r="222"/>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5" name="Title 4">
            <a:extLst>
              <a:ext uri="{FF2B5EF4-FFF2-40B4-BE49-F238E27FC236}">
                <a16:creationId xmlns:a16="http://schemas.microsoft.com/office/drawing/2014/main" id="{6C4AC7B4-607A-88EA-EB9C-C77967D04268}"/>
              </a:ext>
            </a:extLst>
          </p:cNvPr>
          <p:cNvSpPr txBox="1">
            <a:spLocks noGrp="1"/>
          </p:cNvSpPr>
          <p:nvPr>
            <p:ph type="title"/>
          </p:nvPr>
        </p:nvSpPr>
        <p:spPr>
          <a:xfrm>
            <a:off x="677333" y="609600"/>
            <a:ext cx="3851123" cy="1320800"/>
          </a:xfrm>
          <a:prstGeom prst="rect">
            <a:avLst/>
          </a:prstGeom>
        </p:spPr>
        <p:txBody>
          <a:bodyPr>
            <a:normAutofit/>
          </a:bodyPr>
          <a:lstStyle/>
          <a:p>
            <a:pPr>
              <a:lnSpc>
                <a:spcPct val="90000"/>
              </a:lnSpc>
            </a:pPr>
            <a:r>
              <a:rPr lang="en-US" sz="2800" b="1"/>
              <a:t>Recommendation System for TED Talks</a:t>
            </a:r>
          </a:p>
        </p:txBody>
      </p:sp>
      <p:sp>
        <p:nvSpPr>
          <p:cNvPr id="3" name="Content Placeholder 2">
            <a:extLst>
              <a:ext uri="{FF2B5EF4-FFF2-40B4-BE49-F238E27FC236}">
                <a16:creationId xmlns:a16="http://schemas.microsoft.com/office/drawing/2014/main" id="{9A78BE97-C63E-82C8-C6F7-2AAA79988DD0}"/>
              </a:ext>
            </a:extLst>
          </p:cNvPr>
          <p:cNvSpPr>
            <a:spLocks noGrp="1"/>
          </p:cNvSpPr>
          <p:nvPr>
            <p:ph idx="1"/>
          </p:nvPr>
        </p:nvSpPr>
        <p:spPr>
          <a:xfrm>
            <a:off x="677334" y="2160589"/>
            <a:ext cx="3851122" cy="3880773"/>
          </a:xfrm>
        </p:spPr>
        <p:txBody>
          <a:bodyPr>
            <a:normAutofit/>
          </a:bodyPr>
          <a:lstStyle/>
          <a:p>
            <a:r>
              <a:rPr lang="en-US" dirty="0"/>
              <a:t>UMBC-DATA606-Capstone</a:t>
            </a:r>
          </a:p>
          <a:p>
            <a:r>
              <a:rPr lang="en-US" dirty="0"/>
              <a:t>Name: SAI KEERTHI BOTLA</a:t>
            </a:r>
          </a:p>
          <a:p>
            <a:r>
              <a:rPr lang="en-US" dirty="0"/>
              <a:t>Email: </a:t>
            </a:r>
            <a:r>
              <a:rPr lang="en-US" dirty="0">
                <a:hlinkClick r:id="rId3"/>
              </a:rPr>
              <a:t>saikeerthibotla1@gmail.com</a:t>
            </a:r>
            <a:endParaRPr lang="en-US" dirty="0"/>
          </a:p>
          <a:p>
            <a:r>
              <a:rPr lang="en-US" dirty="0"/>
              <a:t>LinkedIn: http://www.linkedin.com/in/saikeerthibotla</a:t>
            </a:r>
          </a:p>
        </p:txBody>
      </p:sp>
      <p:cxnSp>
        <p:nvCxnSpPr>
          <p:cNvPr id="11" name="Straight Connector 1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5525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AED534-F63F-1529-26EA-7D977F5CFB0F}"/>
              </a:ext>
            </a:extLst>
          </p:cNvPr>
          <p:cNvSpPr txBox="1"/>
          <p:nvPr/>
        </p:nvSpPr>
        <p:spPr>
          <a:xfrm>
            <a:off x="1032387" y="2847275"/>
            <a:ext cx="9144000" cy="1477328"/>
          </a:xfrm>
          <a:prstGeom prst="rect">
            <a:avLst/>
          </a:prstGeom>
          <a:noFill/>
        </p:spPr>
        <p:txBody>
          <a:bodyPr wrap="square">
            <a:spAutoFit/>
          </a:bodyPr>
          <a:lstStyle/>
          <a:p>
            <a:pPr algn="just"/>
            <a:r>
              <a:rPr lang="en-US" sz="1800" dirty="0">
                <a:effectLst/>
                <a:latin typeface="Calibri" panose="020F0502020204030204" pitchFamily="34" charset="0"/>
                <a:ea typeface="Calibri" panose="020F0502020204030204" pitchFamily="34" charset="0"/>
                <a:cs typeface="Times New Roman" panose="02020603050405020304" pitchFamily="18" charset="0"/>
              </a:rPr>
              <a:t>TED Talks are popular video presentations covering a wide range of topics, including technology, entertainment, design, science, and business. With thousands of talks available on the TED website, finding the right one to watch can be challenging. A recommendation system can help users find talks that match their interests and preferences. This project proposes the development of a machine learning-based recommendation system for TED Talks.</a:t>
            </a:r>
            <a:endParaRPr lang="en-US" dirty="0"/>
          </a:p>
        </p:txBody>
      </p:sp>
    </p:spTree>
    <p:extLst>
      <p:ext uri="{BB962C8B-B14F-4D97-AF65-F5344CB8AC3E}">
        <p14:creationId xmlns:p14="http://schemas.microsoft.com/office/powerpoint/2010/main" val="870223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040386-FBC6-BEE5-A496-802249579372}"/>
              </a:ext>
            </a:extLst>
          </p:cNvPr>
          <p:cNvSpPr txBox="1"/>
          <p:nvPr/>
        </p:nvSpPr>
        <p:spPr>
          <a:xfrm>
            <a:off x="1044676" y="448531"/>
            <a:ext cx="8118987" cy="1264642"/>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Objective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primary objective of this project is to develop a recommendation system that can recommend TED Talks to users based on their viewing history, preferences, and ratings. The system will use Recommendation algorithms to learn from user interactions and make personalized recommendations.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4D08A20-23B4-DBD2-91DA-902ECC81745D}"/>
              </a:ext>
            </a:extLst>
          </p:cNvPr>
          <p:cNvSpPr txBox="1"/>
          <p:nvPr/>
        </p:nvSpPr>
        <p:spPr>
          <a:xfrm>
            <a:off x="916860" y="2267726"/>
            <a:ext cx="8876070" cy="2616550"/>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About Data: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 transcripts of all the audio and video recordings of Ted talks posted on Ted.com make up the dataset I'll be utilizing to build a recommendation engine for Ted Talks in this article.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Data Link: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https://www.kaggle.com/datasets/rounakbanik/ted-talks?select=ted_main.csv</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two CSV files.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ted_main.csv</a:t>
            </a:r>
            <a:r>
              <a:rPr lang="en-US" sz="1800" dirty="0">
                <a:effectLst/>
                <a:latin typeface="Calibri" panose="020F0502020204030204" pitchFamily="34" charset="0"/>
                <a:ea typeface="Calibri" panose="020F0502020204030204" pitchFamily="34" charset="0"/>
                <a:cs typeface="Times New Roman" panose="02020603050405020304" pitchFamily="18" charset="0"/>
              </a:rPr>
              <a:t> - Contains data on actual TED Talk metadata and TED Talk speakers.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1" dirty="0">
                <a:effectLst/>
                <a:latin typeface="Calibri" panose="020F0502020204030204" pitchFamily="34" charset="0"/>
                <a:ea typeface="Calibri" panose="020F0502020204030204" pitchFamily="34" charset="0"/>
                <a:cs typeface="Times New Roman" panose="02020603050405020304" pitchFamily="18" charset="0"/>
              </a:rPr>
              <a:t>transcripts.csv</a:t>
            </a:r>
            <a:r>
              <a:rPr lang="en-US" sz="1800" dirty="0">
                <a:effectLst/>
                <a:latin typeface="Calibri" panose="020F0502020204030204" pitchFamily="34" charset="0"/>
                <a:ea typeface="Calibri" panose="020F0502020204030204" pitchFamily="34" charset="0"/>
                <a:cs typeface="Times New Roman" panose="02020603050405020304" pitchFamily="18" charset="0"/>
              </a:rPr>
              <a:t> - Contains transcript and URL information for TED Talks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108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10">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39" name="Rectangle 2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FE01DC-4D71-040D-EA2A-CC40A504FD82}"/>
              </a:ext>
            </a:extLst>
          </p:cNvPr>
          <p:cNvSpPr txBox="1"/>
          <p:nvPr/>
        </p:nvSpPr>
        <p:spPr>
          <a:xfrm>
            <a:off x="1286933" y="609600"/>
            <a:ext cx="10197494" cy="1099457"/>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a:solidFill>
                  <a:schemeClr val="accent1"/>
                </a:solidFill>
                <a:latin typeface="+mj-lt"/>
                <a:ea typeface="+mj-ea"/>
                <a:cs typeface="+mj-cs"/>
              </a:rPr>
              <a:t>We have used 4 Recommendation Engines which are highly used for Various Recommendations.</a:t>
            </a:r>
          </a:p>
        </p:txBody>
      </p:sp>
      <p:sp>
        <p:nvSpPr>
          <p:cNvPr id="40" name="Isosceles Triangle 2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TextBox 4">
            <a:extLst>
              <a:ext uri="{FF2B5EF4-FFF2-40B4-BE49-F238E27FC236}">
                <a16:creationId xmlns:a16="http://schemas.microsoft.com/office/drawing/2014/main" id="{E5E158BE-8C57-7FDA-DCDC-78767BD13499}"/>
              </a:ext>
            </a:extLst>
          </p:cNvPr>
          <p:cNvGraphicFramePr/>
          <p:nvPr>
            <p:extLst>
              <p:ext uri="{D42A27DB-BD31-4B8C-83A1-F6EECF244321}">
                <p14:modId xmlns:p14="http://schemas.microsoft.com/office/powerpoint/2010/main" val="1674574024"/>
              </p:ext>
            </p:extLst>
          </p:nvPr>
        </p:nvGraphicFramePr>
        <p:xfrm>
          <a:off x="1371601" y="918900"/>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TextBox 21">
            <a:extLst>
              <a:ext uri="{FF2B5EF4-FFF2-40B4-BE49-F238E27FC236}">
                <a16:creationId xmlns:a16="http://schemas.microsoft.com/office/drawing/2014/main" id="{5E545F67-00D5-9179-7C90-A888FACD9F9D}"/>
              </a:ext>
            </a:extLst>
          </p:cNvPr>
          <p:cNvSpPr txBox="1"/>
          <p:nvPr/>
        </p:nvSpPr>
        <p:spPr>
          <a:xfrm>
            <a:off x="3937683" y="3945357"/>
            <a:ext cx="2177439" cy="1754326"/>
          </a:xfrm>
          <a:prstGeom prst="rect">
            <a:avLst/>
          </a:prstGeom>
          <a:noFill/>
        </p:spPr>
        <p:txBody>
          <a:bodyPr wrap="square">
            <a:spAutoFit/>
          </a:bodyPr>
          <a:lstStyle/>
          <a:p>
            <a:r>
              <a:rPr lang="en-US" b="0" i="0" dirty="0">
                <a:solidFill>
                  <a:srgbClr val="374151"/>
                </a:solidFill>
                <a:effectLst/>
                <a:latin typeface="Söhne"/>
              </a:rPr>
              <a:t>Is a technique that uses the past behavior of users and the behavior of similar users to make recommendations</a:t>
            </a:r>
            <a:endParaRPr lang="en-US" dirty="0"/>
          </a:p>
        </p:txBody>
      </p:sp>
      <p:sp>
        <p:nvSpPr>
          <p:cNvPr id="35" name="TextBox 34">
            <a:extLst>
              <a:ext uri="{FF2B5EF4-FFF2-40B4-BE49-F238E27FC236}">
                <a16:creationId xmlns:a16="http://schemas.microsoft.com/office/drawing/2014/main" id="{0F949B3C-8043-2642-8350-A53236835814}"/>
              </a:ext>
            </a:extLst>
          </p:cNvPr>
          <p:cNvSpPr txBox="1"/>
          <p:nvPr/>
        </p:nvSpPr>
        <p:spPr>
          <a:xfrm>
            <a:off x="1471231" y="4083856"/>
            <a:ext cx="2022116" cy="1477328"/>
          </a:xfrm>
          <a:prstGeom prst="rect">
            <a:avLst/>
          </a:prstGeom>
          <a:noFill/>
        </p:spPr>
        <p:txBody>
          <a:bodyPr wrap="square">
            <a:spAutoFit/>
          </a:bodyPr>
          <a:lstStyle/>
          <a:p>
            <a:r>
              <a:rPr lang="en-US" b="0" i="0" dirty="0">
                <a:solidFill>
                  <a:srgbClr val="374151"/>
                </a:solidFill>
                <a:effectLst/>
                <a:latin typeface="Söhne"/>
              </a:rPr>
              <a:t>Is a technique that groups similar items together based on their attributes.</a:t>
            </a:r>
            <a:endParaRPr lang="en-US" dirty="0"/>
          </a:p>
        </p:txBody>
      </p:sp>
      <p:sp>
        <p:nvSpPr>
          <p:cNvPr id="41" name="TextBox 40">
            <a:extLst>
              <a:ext uri="{FF2B5EF4-FFF2-40B4-BE49-F238E27FC236}">
                <a16:creationId xmlns:a16="http://schemas.microsoft.com/office/drawing/2014/main" id="{ED474576-F18F-ED9A-1559-B1319114D206}"/>
              </a:ext>
            </a:extLst>
          </p:cNvPr>
          <p:cNvSpPr txBox="1"/>
          <p:nvPr/>
        </p:nvSpPr>
        <p:spPr>
          <a:xfrm>
            <a:off x="8845253" y="3958658"/>
            <a:ext cx="2623003" cy="1754326"/>
          </a:xfrm>
          <a:prstGeom prst="rect">
            <a:avLst/>
          </a:prstGeom>
          <a:noFill/>
        </p:spPr>
        <p:txBody>
          <a:bodyPr wrap="square">
            <a:spAutoFit/>
          </a:bodyPr>
          <a:lstStyle/>
          <a:p>
            <a:r>
              <a:rPr lang="en-US" dirty="0">
                <a:solidFill>
                  <a:srgbClr val="374151"/>
                </a:solidFill>
                <a:latin typeface="Söhne"/>
              </a:rPr>
              <a:t>I</a:t>
            </a:r>
            <a:r>
              <a:rPr lang="en-US" b="0" i="0" dirty="0">
                <a:solidFill>
                  <a:srgbClr val="374151"/>
                </a:solidFill>
                <a:effectLst/>
                <a:latin typeface="Söhne"/>
              </a:rPr>
              <a:t>s a technique that decomposes a large matrix into two smaller matrices that can be used to make recommendations.</a:t>
            </a:r>
            <a:endParaRPr lang="en-US" dirty="0"/>
          </a:p>
        </p:txBody>
      </p:sp>
      <p:sp>
        <p:nvSpPr>
          <p:cNvPr id="43" name="TextBox 42">
            <a:extLst>
              <a:ext uri="{FF2B5EF4-FFF2-40B4-BE49-F238E27FC236}">
                <a16:creationId xmlns:a16="http://schemas.microsoft.com/office/drawing/2014/main" id="{157B3978-C188-C1CD-A4EC-BFD15F8FCC22}"/>
              </a:ext>
            </a:extLst>
          </p:cNvPr>
          <p:cNvSpPr txBox="1"/>
          <p:nvPr/>
        </p:nvSpPr>
        <p:spPr>
          <a:xfrm>
            <a:off x="6384064" y="3945357"/>
            <a:ext cx="2265625" cy="1754326"/>
          </a:xfrm>
          <a:prstGeom prst="rect">
            <a:avLst/>
          </a:prstGeom>
          <a:noFill/>
        </p:spPr>
        <p:txBody>
          <a:bodyPr wrap="square">
            <a:spAutoFit/>
          </a:bodyPr>
          <a:lstStyle/>
          <a:p>
            <a:r>
              <a:rPr lang="en-US" dirty="0">
                <a:solidFill>
                  <a:srgbClr val="374151"/>
                </a:solidFill>
                <a:latin typeface="Söhne"/>
              </a:rPr>
              <a:t>I</a:t>
            </a:r>
            <a:r>
              <a:rPr lang="en-US" b="0" i="0" dirty="0">
                <a:solidFill>
                  <a:srgbClr val="374151"/>
                </a:solidFill>
                <a:effectLst/>
                <a:latin typeface="Söhne"/>
              </a:rPr>
              <a:t>s a technique that makes recommendations based on the attributes of the items being recommended.</a:t>
            </a:r>
            <a:endParaRPr lang="en-US" dirty="0"/>
          </a:p>
        </p:txBody>
      </p:sp>
    </p:spTree>
    <p:extLst>
      <p:ext uri="{BB962C8B-B14F-4D97-AF65-F5344CB8AC3E}">
        <p14:creationId xmlns:p14="http://schemas.microsoft.com/office/powerpoint/2010/main" val="2349275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5D0479-D65A-E939-C292-5F20209F87E6}"/>
              </a:ext>
            </a:extLst>
          </p:cNvPr>
          <p:cNvSpPr txBox="1"/>
          <p:nvPr/>
        </p:nvSpPr>
        <p:spPr>
          <a:xfrm>
            <a:off x="4495799" y="188959"/>
            <a:ext cx="2180304" cy="461665"/>
          </a:xfrm>
          <a:prstGeom prst="rect">
            <a:avLst/>
          </a:prstGeom>
          <a:noFill/>
        </p:spPr>
        <p:txBody>
          <a:bodyPr wrap="square">
            <a:spAutoFit/>
          </a:bodyPr>
          <a:lstStyle/>
          <a:p>
            <a:r>
              <a:rPr lang="en-US" sz="2400" b="1" dirty="0">
                <a:solidFill>
                  <a:schemeClr val="accent1"/>
                </a:solidFill>
              </a:rPr>
              <a:t>Visualizations</a:t>
            </a:r>
          </a:p>
        </p:txBody>
      </p:sp>
      <p:pic>
        <p:nvPicPr>
          <p:cNvPr id="5" name="Picture 4">
            <a:extLst>
              <a:ext uri="{FF2B5EF4-FFF2-40B4-BE49-F238E27FC236}">
                <a16:creationId xmlns:a16="http://schemas.microsoft.com/office/drawing/2014/main" id="{2847D6C8-1B6A-548E-665A-0CE110E6C30E}"/>
              </a:ext>
            </a:extLst>
          </p:cNvPr>
          <p:cNvPicPr>
            <a:picLocks noChangeAspect="1"/>
          </p:cNvPicPr>
          <p:nvPr/>
        </p:nvPicPr>
        <p:blipFill>
          <a:blip r:embed="rId2"/>
          <a:stretch>
            <a:fillRect/>
          </a:stretch>
        </p:blipFill>
        <p:spPr>
          <a:xfrm>
            <a:off x="595487" y="2036243"/>
            <a:ext cx="5500513" cy="1705994"/>
          </a:xfrm>
          <a:prstGeom prst="rect">
            <a:avLst/>
          </a:prstGeom>
        </p:spPr>
      </p:pic>
      <p:pic>
        <p:nvPicPr>
          <p:cNvPr id="7" name="Picture 6">
            <a:extLst>
              <a:ext uri="{FF2B5EF4-FFF2-40B4-BE49-F238E27FC236}">
                <a16:creationId xmlns:a16="http://schemas.microsoft.com/office/drawing/2014/main" id="{552F3A5E-9745-7433-096F-BC6B99C90369}"/>
              </a:ext>
            </a:extLst>
          </p:cNvPr>
          <p:cNvPicPr>
            <a:picLocks noChangeAspect="1"/>
          </p:cNvPicPr>
          <p:nvPr/>
        </p:nvPicPr>
        <p:blipFill>
          <a:blip r:embed="rId3"/>
          <a:stretch>
            <a:fillRect/>
          </a:stretch>
        </p:blipFill>
        <p:spPr>
          <a:xfrm>
            <a:off x="510056" y="3968760"/>
            <a:ext cx="5585944" cy="1478408"/>
          </a:xfrm>
          <a:prstGeom prst="rect">
            <a:avLst/>
          </a:prstGeom>
        </p:spPr>
      </p:pic>
      <p:sp>
        <p:nvSpPr>
          <p:cNvPr id="9" name="TextBox 8">
            <a:extLst>
              <a:ext uri="{FF2B5EF4-FFF2-40B4-BE49-F238E27FC236}">
                <a16:creationId xmlns:a16="http://schemas.microsoft.com/office/drawing/2014/main" id="{A05873FF-FA6A-2CCF-6747-0E3D1CED455E}"/>
              </a:ext>
            </a:extLst>
          </p:cNvPr>
          <p:cNvSpPr txBox="1"/>
          <p:nvPr/>
        </p:nvSpPr>
        <p:spPr>
          <a:xfrm>
            <a:off x="1437966" y="1276650"/>
            <a:ext cx="3596149" cy="369332"/>
          </a:xfrm>
          <a:prstGeom prst="rect">
            <a:avLst/>
          </a:prstGeom>
          <a:noFill/>
        </p:spPr>
        <p:txBody>
          <a:bodyPr wrap="square">
            <a:spAutoFit/>
          </a:bodyPr>
          <a:lstStyle/>
          <a:p>
            <a:r>
              <a:rPr lang="en-US" dirty="0"/>
              <a:t>We can see the Glimpse of Data.</a:t>
            </a:r>
          </a:p>
        </p:txBody>
      </p:sp>
      <p:cxnSp>
        <p:nvCxnSpPr>
          <p:cNvPr id="11" name="Straight Connector 10">
            <a:extLst>
              <a:ext uri="{FF2B5EF4-FFF2-40B4-BE49-F238E27FC236}">
                <a16:creationId xmlns:a16="http://schemas.microsoft.com/office/drawing/2014/main" id="{FA375E5C-D81E-8753-BD0A-F346F6D009E3}"/>
              </a:ext>
            </a:extLst>
          </p:cNvPr>
          <p:cNvCxnSpPr/>
          <p:nvPr/>
        </p:nvCxnSpPr>
        <p:spPr>
          <a:xfrm>
            <a:off x="6253316" y="806245"/>
            <a:ext cx="0" cy="6051755"/>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ECDFDEE-78F4-A7B4-2C16-7BF5F077FE07}"/>
              </a:ext>
            </a:extLst>
          </p:cNvPr>
          <p:cNvPicPr>
            <a:picLocks noChangeAspect="1"/>
          </p:cNvPicPr>
          <p:nvPr/>
        </p:nvPicPr>
        <p:blipFill>
          <a:blip r:embed="rId4"/>
          <a:stretch>
            <a:fillRect/>
          </a:stretch>
        </p:blipFill>
        <p:spPr>
          <a:xfrm>
            <a:off x="6410633" y="2036243"/>
            <a:ext cx="3642676" cy="3977985"/>
          </a:xfrm>
          <a:prstGeom prst="rect">
            <a:avLst/>
          </a:prstGeom>
        </p:spPr>
      </p:pic>
      <p:sp>
        <p:nvSpPr>
          <p:cNvPr id="16" name="TextBox 15">
            <a:extLst>
              <a:ext uri="{FF2B5EF4-FFF2-40B4-BE49-F238E27FC236}">
                <a16:creationId xmlns:a16="http://schemas.microsoft.com/office/drawing/2014/main" id="{60B04453-7584-37F4-BEB6-DF9220D62B0C}"/>
              </a:ext>
            </a:extLst>
          </p:cNvPr>
          <p:cNvSpPr txBox="1"/>
          <p:nvPr/>
        </p:nvSpPr>
        <p:spPr>
          <a:xfrm>
            <a:off x="6410633" y="1284939"/>
            <a:ext cx="3596149" cy="369332"/>
          </a:xfrm>
          <a:prstGeom prst="rect">
            <a:avLst/>
          </a:prstGeom>
          <a:noFill/>
        </p:spPr>
        <p:txBody>
          <a:bodyPr wrap="square">
            <a:spAutoFit/>
          </a:bodyPr>
          <a:lstStyle/>
          <a:p>
            <a:r>
              <a:rPr lang="en-US" dirty="0"/>
              <a:t>Dataset is a Mix of ID and Texts</a:t>
            </a:r>
          </a:p>
        </p:txBody>
      </p:sp>
    </p:spTree>
    <p:extLst>
      <p:ext uri="{BB962C8B-B14F-4D97-AF65-F5344CB8AC3E}">
        <p14:creationId xmlns:p14="http://schemas.microsoft.com/office/powerpoint/2010/main" val="204524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06C137-46F3-4D09-4581-72F53EFAD2C6}"/>
              </a:ext>
            </a:extLst>
          </p:cNvPr>
          <p:cNvPicPr>
            <a:picLocks noChangeAspect="1"/>
          </p:cNvPicPr>
          <p:nvPr/>
        </p:nvPicPr>
        <p:blipFill>
          <a:blip r:embed="rId2"/>
          <a:stretch>
            <a:fillRect/>
          </a:stretch>
        </p:blipFill>
        <p:spPr>
          <a:xfrm>
            <a:off x="730819" y="2353263"/>
            <a:ext cx="3863934" cy="3123306"/>
          </a:xfrm>
          <a:prstGeom prst="rect">
            <a:avLst/>
          </a:prstGeom>
        </p:spPr>
      </p:pic>
      <p:sp>
        <p:nvSpPr>
          <p:cNvPr id="4" name="TextBox 3">
            <a:extLst>
              <a:ext uri="{FF2B5EF4-FFF2-40B4-BE49-F238E27FC236}">
                <a16:creationId xmlns:a16="http://schemas.microsoft.com/office/drawing/2014/main" id="{E3CC3560-62DD-E5C7-ADA0-4A939530ED7F}"/>
              </a:ext>
            </a:extLst>
          </p:cNvPr>
          <p:cNvSpPr txBox="1"/>
          <p:nvPr/>
        </p:nvSpPr>
        <p:spPr>
          <a:xfrm>
            <a:off x="1436526" y="1599571"/>
            <a:ext cx="2452519" cy="369332"/>
          </a:xfrm>
          <a:prstGeom prst="rect">
            <a:avLst/>
          </a:prstGeom>
          <a:noFill/>
        </p:spPr>
        <p:txBody>
          <a:bodyPr wrap="square">
            <a:spAutoFit/>
          </a:bodyPr>
          <a:lstStyle/>
          <a:p>
            <a:r>
              <a:rPr lang="en-US" dirty="0"/>
              <a:t>Correlation Matrix</a:t>
            </a:r>
          </a:p>
        </p:txBody>
      </p:sp>
      <p:pic>
        <p:nvPicPr>
          <p:cNvPr id="6" name="Picture 5">
            <a:extLst>
              <a:ext uri="{FF2B5EF4-FFF2-40B4-BE49-F238E27FC236}">
                <a16:creationId xmlns:a16="http://schemas.microsoft.com/office/drawing/2014/main" id="{6D4B78E7-94AA-D6E5-5B22-54B95EDC0417}"/>
              </a:ext>
            </a:extLst>
          </p:cNvPr>
          <p:cNvPicPr>
            <a:picLocks noChangeAspect="1"/>
          </p:cNvPicPr>
          <p:nvPr/>
        </p:nvPicPr>
        <p:blipFill>
          <a:blip r:embed="rId3"/>
          <a:stretch>
            <a:fillRect/>
          </a:stretch>
        </p:blipFill>
        <p:spPr>
          <a:xfrm>
            <a:off x="5571802" y="1868497"/>
            <a:ext cx="4857881" cy="4768276"/>
          </a:xfrm>
          <a:prstGeom prst="rect">
            <a:avLst/>
          </a:prstGeom>
        </p:spPr>
      </p:pic>
      <p:cxnSp>
        <p:nvCxnSpPr>
          <p:cNvPr id="8" name="Straight Connector 7">
            <a:extLst>
              <a:ext uri="{FF2B5EF4-FFF2-40B4-BE49-F238E27FC236}">
                <a16:creationId xmlns:a16="http://schemas.microsoft.com/office/drawing/2014/main" id="{7C82176E-3806-1B95-D041-F4B9023ED30B}"/>
              </a:ext>
            </a:extLst>
          </p:cNvPr>
          <p:cNvCxnSpPr/>
          <p:nvPr/>
        </p:nvCxnSpPr>
        <p:spPr>
          <a:xfrm>
            <a:off x="5083277" y="68826"/>
            <a:ext cx="0" cy="6685935"/>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0F35FB1-8F3F-009A-530D-2ED3D4B0242A}"/>
              </a:ext>
            </a:extLst>
          </p:cNvPr>
          <p:cNvSpPr txBox="1"/>
          <p:nvPr/>
        </p:nvSpPr>
        <p:spPr>
          <a:xfrm>
            <a:off x="6219154" y="867068"/>
            <a:ext cx="3563175" cy="646331"/>
          </a:xfrm>
          <a:prstGeom prst="rect">
            <a:avLst/>
          </a:prstGeom>
          <a:noFill/>
        </p:spPr>
        <p:txBody>
          <a:bodyPr wrap="square">
            <a:spAutoFit/>
          </a:bodyPr>
          <a:lstStyle/>
          <a:p>
            <a:r>
              <a:rPr lang="en-US" dirty="0"/>
              <a:t>Histogram of Each Numerical Column in the data.</a:t>
            </a:r>
          </a:p>
        </p:txBody>
      </p:sp>
    </p:spTree>
    <p:extLst>
      <p:ext uri="{BB962C8B-B14F-4D97-AF65-F5344CB8AC3E}">
        <p14:creationId xmlns:p14="http://schemas.microsoft.com/office/powerpoint/2010/main" val="2780438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1" name="Rectangle 20">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4" name="Rectangle 33">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8104E00-CC75-2271-8EF1-9F1B5A13194F}"/>
              </a:ext>
            </a:extLst>
          </p:cNvPr>
          <p:cNvPicPr>
            <a:picLocks noChangeAspect="1"/>
          </p:cNvPicPr>
          <p:nvPr/>
        </p:nvPicPr>
        <p:blipFill>
          <a:blip r:embed="rId2"/>
          <a:stretch>
            <a:fillRect/>
          </a:stretch>
        </p:blipFill>
        <p:spPr>
          <a:xfrm>
            <a:off x="1933676" y="1746717"/>
            <a:ext cx="8326525" cy="3975663"/>
          </a:xfrm>
          <a:prstGeom prst="rect">
            <a:avLst/>
          </a:prstGeom>
        </p:spPr>
      </p:pic>
      <p:sp>
        <p:nvSpPr>
          <p:cNvPr id="4" name="TextBox 3">
            <a:extLst>
              <a:ext uri="{FF2B5EF4-FFF2-40B4-BE49-F238E27FC236}">
                <a16:creationId xmlns:a16="http://schemas.microsoft.com/office/drawing/2014/main" id="{F80118DB-9EC4-CCBE-3FCD-7553F6B3B542}"/>
              </a:ext>
            </a:extLst>
          </p:cNvPr>
          <p:cNvSpPr txBox="1"/>
          <p:nvPr/>
        </p:nvSpPr>
        <p:spPr>
          <a:xfrm>
            <a:off x="3567609" y="1131994"/>
            <a:ext cx="5058659" cy="349689"/>
          </a:xfrm>
          <a:prstGeom prst="rect">
            <a:avLst/>
          </a:prstGeom>
          <a:noFill/>
        </p:spPr>
        <p:txBody>
          <a:bodyPr wrap="square">
            <a:spAutoFit/>
          </a:bodyPr>
          <a:lstStyle/>
          <a:p>
            <a:pPr defTabSz="429768">
              <a:spcAft>
                <a:spcPts val="600"/>
              </a:spcAft>
            </a:pPr>
            <a:r>
              <a:rPr lang="en-US" sz="1692" kern="1200">
                <a:solidFill>
                  <a:schemeClr val="tx1"/>
                </a:solidFill>
                <a:latin typeface="+mn-lt"/>
                <a:ea typeface="+mn-ea"/>
                <a:cs typeface="+mn-cs"/>
              </a:rPr>
              <a:t>There are around 500 to 3000 words in a Ted Talk.</a:t>
            </a:r>
            <a:endParaRPr lang="en-US"/>
          </a:p>
        </p:txBody>
      </p:sp>
    </p:spTree>
    <p:extLst>
      <p:ext uri="{BB962C8B-B14F-4D97-AF65-F5344CB8AC3E}">
        <p14:creationId xmlns:p14="http://schemas.microsoft.com/office/powerpoint/2010/main" val="656601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D4BCA2-E373-B5F6-416A-A49BBC73F289}"/>
              </a:ext>
            </a:extLst>
          </p:cNvPr>
          <p:cNvPicPr>
            <a:picLocks noChangeAspect="1"/>
          </p:cNvPicPr>
          <p:nvPr/>
        </p:nvPicPr>
        <p:blipFill>
          <a:blip r:embed="rId2"/>
          <a:stretch>
            <a:fillRect/>
          </a:stretch>
        </p:blipFill>
        <p:spPr>
          <a:xfrm>
            <a:off x="722947" y="2335676"/>
            <a:ext cx="5013519" cy="3406363"/>
          </a:xfrm>
          <a:prstGeom prst="rect">
            <a:avLst/>
          </a:prstGeom>
        </p:spPr>
      </p:pic>
      <p:pic>
        <p:nvPicPr>
          <p:cNvPr id="5" name="Picture 4">
            <a:extLst>
              <a:ext uri="{FF2B5EF4-FFF2-40B4-BE49-F238E27FC236}">
                <a16:creationId xmlns:a16="http://schemas.microsoft.com/office/drawing/2014/main" id="{1DD3062B-A550-E967-A391-9D397A5C280F}"/>
              </a:ext>
            </a:extLst>
          </p:cNvPr>
          <p:cNvPicPr>
            <a:picLocks noChangeAspect="1"/>
          </p:cNvPicPr>
          <p:nvPr/>
        </p:nvPicPr>
        <p:blipFill>
          <a:blip r:embed="rId3"/>
          <a:stretch>
            <a:fillRect/>
          </a:stretch>
        </p:blipFill>
        <p:spPr>
          <a:xfrm>
            <a:off x="6455536" y="2193621"/>
            <a:ext cx="5431440" cy="3319818"/>
          </a:xfrm>
          <a:prstGeom prst="rect">
            <a:avLst/>
          </a:prstGeom>
        </p:spPr>
      </p:pic>
      <p:cxnSp>
        <p:nvCxnSpPr>
          <p:cNvPr id="7" name="Straight Connector 6">
            <a:extLst>
              <a:ext uri="{FF2B5EF4-FFF2-40B4-BE49-F238E27FC236}">
                <a16:creationId xmlns:a16="http://schemas.microsoft.com/office/drawing/2014/main" id="{A860355B-8694-8C23-6F50-B30927E84CFE}"/>
              </a:ext>
            </a:extLst>
          </p:cNvPr>
          <p:cNvCxnSpPr/>
          <p:nvPr/>
        </p:nvCxnSpPr>
        <p:spPr>
          <a:xfrm>
            <a:off x="5919019" y="0"/>
            <a:ext cx="0"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FD90CC0-A682-4703-2AB1-B012FCBD24F3}"/>
              </a:ext>
            </a:extLst>
          </p:cNvPr>
          <p:cNvSpPr txBox="1"/>
          <p:nvPr/>
        </p:nvSpPr>
        <p:spPr>
          <a:xfrm>
            <a:off x="753186" y="1348848"/>
            <a:ext cx="5342814" cy="646331"/>
          </a:xfrm>
          <a:prstGeom prst="rect">
            <a:avLst/>
          </a:prstGeom>
          <a:noFill/>
        </p:spPr>
        <p:txBody>
          <a:bodyPr wrap="square">
            <a:spAutoFit/>
          </a:bodyPr>
          <a:lstStyle/>
          <a:p>
            <a:r>
              <a:rPr lang="en-US" dirty="0"/>
              <a:t>We can see that which speaker gave the highest number of talks.</a:t>
            </a:r>
          </a:p>
        </p:txBody>
      </p:sp>
      <p:sp>
        <p:nvSpPr>
          <p:cNvPr id="9" name="TextBox 8">
            <a:extLst>
              <a:ext uri="{FF2B5EF4-FFF2-40B4-BE49-F238E27FC236}">
                <a16:creationId xmlns:a16="http://schemas.microsoft.com/office/drawing/2014/main" id="{04DBA50C-020F-BC54-D4ED-756D8DAD7EEA}"/>
              </a:ext>
            </a:extLst>
          </p:cNvPr>
          <p:cNvSpPr txBox="1"/>
          <p:nvPr/>
        </p:nvSpPr>
        <p:spPr>
          <a:xfrm>
            <a:off x="6204154" y="1348848"/>
            <a:ext cx="5342814" cy="646331"/>
          </a:xfrm>
          <a:prstGeom prst="rect">
            <a:avLst/>
          </a:prstGeom>
          <a:noFill/>
        </p:spPr>
        <p:txBody>
          <a:bodyPr wrap="square">
            <a:spAutoFit/>
          </a:bodyPr>
          <a:lstStyle/>
          <a:p>
            <a:r>
              <a:rPr lang="en-US" dirty="0"/>
              <a:t>In the below graph we can see that most of the speakers are from Artist or Writers background.</a:t>
            </a:r>
          </a:p>
        </p:txBody>
      </p:sp>
    </p:spTree>
    <p:extLst>
      <p:ext uri="{BB962C8B-B14F-4D97-AF65-F5344CB8AC3E}">
        <p14:creationId xmlns:p14="http://schemas.microsoft.com/office/powerpoint/2010/main" val="1678090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6" name="Rectangle 2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 name="TextBox 3">
            <a:extLst>
              <a:ext uri="{FF2B5EF4-FFF2-40B4-BE49-F238E27FC236}">
                <a16:creationId xmlns:a16="http://schemas.microsoft.com/office/drawing/2014/main" id="{91811C97-A960-6D18-8EF8-C5C8F43B2F88}"/>
              </a:ext>
            </a:extLst>
          </p:cNvPr>
          <p:cNvSpPr txBox="1"/>
          <p:nvPr/>
        </p:nvSpPr>
        <p:spPr>
          <a:xfrm>
            <a:off x="673754" y="2160590"/>
            <a:ext cx="3973943" cy="3440110"/>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b="1">
                <a:solidFill>
                  <a:schemeClr val="bg1"/>
                </a:solidFill>
              </a:rPr>
              <a:t>Clustering</a:t>
            </a:r>
          </a:p>
        </p:txBody>
      </p:sp>
      <p:sp>
        <p:nvSpPr>
          <p:cNvPr id="32" name="Isosceles Triangle 31">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6" name="TextBox 5">
            <a:extLst>
              <a:ext uri="{FF2B5EF4-FFF2-40B4-BE49-F238E27FC236}">
                <a16:creationId xmlns:a16="http://schemas.microsoft.com/office/drawing/2014/main" id="{05C05CF5-EA25-65FA-C97D-5E6C74124399}"/>
              </a:ext>
            </a:extLst>
          </p:cNvPr>
          <p:cNvSpPr txBox="1"/>
          <p:nvPr/>
        </p:nvSpPr>
        <p:spPr>
          <a:xfrm>
            <a:off x="6299768" y="932502"/>
            <a:ext cx="5455927" cy="2246769"/>
          </a:xfrm>
          <a:prstGeom prst="rect">
            <a:avLst/>
          </a:prstGeom>
          <a:noFill/>
        </p:spPr>
        <p:txBody>
          <a:bodyPr wrap="square">
            <a:spAutoFit/>
          </a:bodyPr>
          <a:lstStyle/>
          <a:p>
            <a:pPr defTabSz="283464">
              <a:spcAft>
                <a:spcPts val="600"/>
              </a:spcAft>
            </a:pPr>
            <a:r>
              <a:rPr lang="en-US" sz="1200" kern="1200" dirty="0">
                <a:solidFill>
                  <a:schemeClr val="tx1"/>
                </a:solidFill>
                <a:latin typeface="+mn-lt"/>
                <a:ea typeface="+mn-ea"/>
                <a:cs typeface="+mn-cs"/>
              </a:rPr>
              <a:t>In this code we applied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Text preprocessing techniques such as tokenization, stop-word removal, stemming, and lemmatization to the transcripts of the Ted talks.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Then applies TF-IDF vectorization to convert the preprocessed text into a numerical representation. The TF-IDF matrix is then used to compute word embeddings using cosine similarity.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The code then applies K-means clustering with 5 clusters on the word embeddings. </a:t>
            </a:r>
          </a:p>
          <a:p>
            <a:pPr defTabSz="283464">
              <a:spcAft>
                <a:spcPts val="600"/>
              </a:spcAft>
              <a:buFont typeface="Arial" panose="020B0604020202020204" pitchFamily="34" charset="0"/>
              <a:buChar char="•"/>
            </a:pPr>
            <a:r>
              <a:rPr lang="en-US" sz="1200" kern="1200" dirty="0">
                <a:solidFill>
                  <a:schemeClr val="tx1"/>
                </a:solidFill>
                <a:latin typeface="+mn-lt"/>
                <a:ea typeface="+mn-ea"/>
                <a:cs typeface="+mn-cs"/>
              </a:rPr>
              <a:t>To recommend talks, the code first searches for talks containing the search term</a:t>
            </a:r>
            <a:endParaRPr lang="en-US" sz="2800" dirty="0"/>
          </a:p>
        </p:txBody>
      </p:sp>
      <p:pic>
        <p:nvPicPr>
          <p:cNvPr id="8" name="Picture 7">
            <a:extLst>
              <a:ext uri="{FF2B5EF4-FFF2-40B4-BE49-F238E27FC236}">
                <a16:creationId xmlns:a16="http://schemas.microsoft.com/office/drawing/2014/main" id="{EB0D6829-B60A-5AD4-6FBA-145670EE7D22}"/>
              </a:ext>
            </a:extLst>
          </p:cNvPr>
          <p:cNvPicPr>
            <a:picLocks noChangeAspect="1"/>
          </p:cNvPicPr>
          <p:nvPr/>
        </p:nvPicPr>
        <p:blipFill>
          <a:blip r:embed="rId2"/>
          <a:stretch>
            <a:fillRect/>
          </a:stretch>
        </p:blipFill>
        <p:spPr>
          <a:xfrm>
            <a:off x="6909937" y="3845874"/>
            <a:ext cx="4249676" cy="1842517"/>
          </a:xfrm>
          <a:prstGeom prst="rect">
            <a:avLst/>
          </a:prstGeom>
        </p:spPr>
      </p:pic>
      <p:sp>
        <p:nvSpPr>
          <p:cNvPr id="9" name="TextBox 8">
            <a:extLst>
              <a:ext uri="{FF2B5EF4-FFF2-40B4-BE49-F238E27FC236}">
                <a16:creationId xmlns:a16="http://schemas.microsoft.com/office/drawing/2014/main" id="{25C30585-389B-5432-BB5F-2BC8702FD0C6}"/>
              </a:ext>
            </a:extLst>
          </p:cNvPr>
          <p:cNvSpPr txBox="1"/>
          <p:nvPr/>
        </p:nvSpPr>
        <p:spPr>
          <a:xfrm>
            <a:off x="8273167" y="3343732"/>
            <a:ext cx="1327101" cy="307777"/>
          </a:xfrm>
          <a:prstGeom prst="rect">
            <a:avLst/>
          </a:prstGeom>
          <a:noFill/>
        </p:spPr>
        <p:txBody>
          <a:bodyPr wrap="square">
            <a:spAutoFit/>
          </a:bodyPr>
          <a:lstStyle/>
          <a:p>
            <a:pPr defTabSz="283464">
              <a:spcAft>
                <a:spcPts val="600"/>
              </a:spcAft>
            </a:pPr>
            <a:r>
              <a:rPr lang="en-US" sz="1400" b="1" kern="1200" dirty="0">
                <a:solidFill>
                  <a:schemeClr val="tx1"/>
                </a:solidFill>
                <a:latin typeface="+mn-lt"/>
                <a:ea typeface="+mn-ea"/>
                <a:cs typeface="+mn-cs"/>
              </a:rPr>
              <a:t>Predictions</a:t>
            </a:r>
            <a:endParaRPr lang="en-US" sz="2400" b="1" dirty="0"/>
          </a:p>
        </p:txBody>
      </p:sp>
    </p:spTree>
    <p:extLst>
      <p:ext uri="{BB962C8B-B14F-4D97-AF65-F5344CB8AC3E}">
        <p14:creationId xmlns:p14="http://schemas.microsoft.com/office/powerpoint/2010/main" val="2686303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575384-54EB-49AC-82F1-AB0224A25D50}"/>
              </a:ext>
            </a:extLst>
          </p:cNvPr>
          <p:cNvPicPr>
            <a:picLocks noChangeAspect="1"/>
          </p:cNvPicPr>
          <p:nvPr/>
        </p:nvPicPr>
        <p:blipFill>
          <a:blip r:embed="rId2"/>
          <a:stretch>
            <a:fillRect/>
          </a:stretch>
        </p:blipFill>
        <p:spPr>
          <a:xfrm>
            <a:off x="2108050" y="2090881"/>
            <a:ext cx="5380186" cy="4465707"/>
          </a:xfrm>
          <a:prstGeom prst="rect">
            <a:avLst/>
          </a:prstGeom>
        </p:spPr>
      </p:pic>
      <p:sp>
        <p:nvSpPr>
          <p:cNvPr id="5" name="TextBox 4">
            <a:extLst>
              <a:ext uri="{FF2B5EF4-FFF2-40B4-BE49-F238E27FC236}">
                <a16:creationId xmlns:a16="http://schemas.microsoft.com/office/drawing/2014/main" id="{C98BA221-9432-1C66-C9DB-CE5FE8BEEE45}"/>
              </a:ext>
            </a:extLst>
          </p:cNvPr>
          <p:cNvSpPr txBox="1"/>
          <p:nvPr/>
        </p:nvSpPr>
        <p:spPr>
          <a:xfrm>
            <a:off x="1251154" y="192012"/>
            <a:ext cx="8177981" cy="1415772"/>
          </a:xfrm>
          <a:prstGeom prst="rect">
            <a:avLst/>
          </a:prstGeom>
          <a:noFill/>
        </p:spPr>
        <p:txBody>
          <a:bodyPr wrap="square">
            <a:spAutoFit/>
          </a:bodyPr>
          <a:lstStyle/>
          <a:p>
            <a:r>
              <a:rPr lang="en-US" b="1" dirty="0"/>
              <a:t>Evaluate the KMeans clustering model</a:t>
            </a:r>
          </a:p>
          <a:p>
            <a:endParaRPr lang="en-US" b="1" dirty="0"/>
          </a:p>
          <a:p>
            <a:r>
              <a:rPr lang="en-US" sz="1600" dirty="0"/>
              <a:t>We can see that the average silhouette score is positive which indicates that the model is a good model.</a:t>
            </a:r>
            <a:br>
              <a:rPr lang="en-US" sz="1600" dirty="0"/>
            </a:br>
            <a:r>
              <a:rPr lang="en-US" sz="1600" dirty="0"/>
              <a:t>In the elbow curve we can see that the best number of K values for the cluster</a:t>
            </a:r>
            <a:r>
              <a:rPr lang="en-US" dirty="0"/>
              <a:t>.</a:t>
            </a:r>
          </a:p>
        </p:txBody>
      </p:sp>
    </p:spTree>
    <p:extLst>
      <p:ext uri="{BB962C8B-B14F-4D97-AF65-F5344CB8AC3E}">
        <p14:creationId xmlns:p14="http://schemas.microsoft.com/office/powerpoint/2010/main" val="3742826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04B5217F-6F73-E30D-1B5B-FD6418C220FC}"/>
              </a:ext>
            </a:extLst>
          </p:cNvPr>
          <p:cNvSpPr txBox="1"/>
          <p:nvPr/>
        </p:nvSpPr>
        <p:spPr>
          <a:xfrm>
            <a:off x="673754" y="643467"/>
            <a:ext cx="4203045" cy="1375608"/>
          </a:xfrm>
          <a:prstGeom prst="rect">
            <a:avLst/>
          </a:prstGeom>
        </p:spPr>
        <p:txBody>
          <a:bodyPr vert="horz" lIns="91440" tIns="45720" rIns="91440" bIns="45720" rtlCol="0" anchor="ctr">
            <a:normAutofit/>
          </a:bodyPr>
          <a:lstStyle/>
          <a:p>
            <a:pPr>
              <a:spcBef>
                <a:spcPct val="0"/>
              </a:spcBef>
              <a:spcAft>
                <a:spcPts val="600"/>
              </a:spcAft>
            </a:pPr>
            <a:r>
              <a:rPr lang="en-US" sz="3600" b="1">
                <a:solidFill>
                  <a:schemeClr val="bg1"/>
                </a:solidFill>
                <a:latin typeface="+mj-lt"/>
                <a:ea typeface="+mj-ea"/>
                <a:cs typeface="+mj-cs"/>
              </a:rPr>
              <a:t>Collaborative Filtering</a:t>
            </a:r>
          </a:p>
        </p:txBody>
      </p:sp>
      <p:sp>
        <p:nvSpPr>
          <p:cNvPr id="5" name="TextBox 4">
            <a:extLst>
              <a:ext uri="{FF2B5EF4-FFF2-40B4-BE49-F238E27FC236}">
                <a16:creationId xmlns:a16="http://schemas.microsoft.com/office/drawing/2014/main" id="{06B12FFF-81F2-ABC9-ED13-1BF4FF9E1B92}"/>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sz="1500">
                <a:solidFill>
                  <a:schemeClr val="bg1"/>
                </a:solidFill>
              </a:rPr>
              <a:t>The process Performed the following text preprocessing techniques:</a:t>
            </a:r>
          </a:p>
          <a:p>
            <a:pPr>
              <a:lnSpc>
                <a:spcPct val="90000"/>
              </a:lnSpc>
              <a:spcBef>
                <a:spcPts val="1000"/>
              </a:spcBef>
              <a:buClr>
                <a:schemeClr val="accent1"/>
              </a:buClr>
              <a:buSzPct val="80000"/>
              <a:buFont typeface="Wingdings 3" charset="2"/>
              <a:buChar char=""/>
            </a:pPr>
            <a:r>
              <a:rPr lang="en-US" sz="1500">
                <a:solidFill>
                  <a:schemeClr val="bg1"/>
                </a:solidFill>
              </a:rPr>
              <a:t>Tokenization: splits the text into individual words (tokens).</a:t>
            </a:r>
          </a:p>
          <a:p>
            <a:pPr>
              <a:lnSpc>
                <a:spcPct val="90000"/>
              </a:lnSpc>
              <a:spcBef>
                <a:spcPts val="1000"/>
              </a:spcBef>
              <a:buClr>
                <a:schemeClr val="accent1"/>
              </a:buClr>
              <a:buSzPct val="80000"/>
              <a:buFont typeface="Wingdings 3" charset="2"/>
              <a:buChar char=""/>
            </a:pPr>
            <a:r>
              <a:rPr lang="en-US" sz="1500">
                <a:solidFill>
                  <a:schemeClr val="bg1"/>
                </a:solidFill>
              </a:rPr>
              <a:t>Stop-word removal: removes commonly occurring words that do not carry much meaning, such as "the", "a", "an", "in", etc.</a:t>
            </a:r>
          </a:p>
          <a:p>
            <a:pPr>
              <a:lnSpc>
                <a:spcPct val="90000"/>
              </a:lnSpc>
              <a:spcBef>
                <a:spcPts val="1000"/>
              </a:spcBef>
              <a:buClr>
                <a:schemeClr val="accent1"/>
              </a:buClr>
              <a:buSzPct val="80000"/>
              <a:buFont typeface="Wingdings 3" charset="2"/>
              <a:buChar char=""/>
            </a:pPr>
            <a:r>
              <a:rPr lang="en-US" sz="1500">
                <a:solidFill>
                  <a:schemeClr val="bg1"/>
                </a:solidFill>
              </a:rPr>
              <a:t>Lemmatization: reduces words to their base form (e.g., "running" becomes "run").</a:t>
            </a:r>
          </a:p>
          <a:p>
            <a:pPr>
              <a:lnSpc>
                <a:spcPct val="90000"/>
              </a:lnSpc>
              <a:spcBef>
                <a:spcPts val="1000"/>
              </a:spcBef>
              <a:buClr>
                <a:schemeClr val="accent1"/>
              </a:buClr>
              <a:buSzPct val="80000"/>
              <a:buFont typeface="Wingdings 3" charset="2"/>
              <a:buChar char=""/>
            </a:pPr>
            <a:r>
              <a:rPr lang="en-US" sz="1500">
                <a:solidFill>
                  <a:schemeClr val="bg1"/>
                </a:solidFill>
              </a:rPr>
              <a:t>TF-IDF Vectorization: converts the preprocessed text into numerical vectors using the Term Frequency-Inverse Document Frequency (TF-IDF) technique.</a:t>
            </a:r>
          </a:p>
        </p:txBody>
      </p:sp>
      <p:pic>
        <p:nvPicPr>
          <p:cNvPr id="7" name="Picture 6">
            <a:extLst>
              <a:ext uri="{FF2B5EF4-FFF2-40B4-BE49-F238E27FC236}">
                <a16:creationId xmlns:a16="http://schemas.microsoft.com/office/drawing/2014/main" id="{84D4BC82-8D68-5459-EDAD-E1847C9DE584}"/>
              </a:ext>
            </a:extLst>
          </p:cNvPr>
          <p:cNvPicPr>
            <a:picLocks noChangeAspect="1"/>
          </p:cNvPicPr>
          <p:nvPr/>
        </p:nvPicPr>
        <p:blipFill>
          <a:blip r:embed="rId2"/>
          <a:stretch>
            <a:fillRect/>
          </a:stretch>
        </p:blipFill>
        <p:spPr>
          <a:xfrm>
            <a:off x="6096001" y="1681053"/>
            <a:ext cx="5143500" cy="3483378"/>
          </a:xfrm>
          <a:prstGeom prst="rect">
            <a:avLst/>
          </a:prstGeom>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638104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41D97003-6F50-0DB0-228F-37C3718D7ED8}"/>
              </a:ext>
            </a:extLst>
          </p:cNvPr>
          <p:cNvSpPr txBox="1"/>
          <p:nvPr/>
        </p:nvSpPr>
        <p:spPr>
          <a:xfrm>
            <a:off x="673754" y="643467"/>
            <a:ext cx="4203045" cy="1375608"/>
          </a:xfrm>
          <a:prstGeom prst="rect">
            <a:avLst/>
          </a:prstGeom>
        </p:spPr>
        <p:txBody>
          <a:bodyPr vert="horz" lIns="91440" tIns="45720" rIns="91440" bIns="45720" rtlCol="0" anchor="ctr">
            <a:normAutofit/>
          </a:bodyPr>
          <a:lstStyle/>
          <a:p>
            <a:pPr>
              <a:spcBef>
                <a:spcPct val="0"/>
              </a:spcBef>
              <a:spcAft>
                <a:spcPts val="600"/>
              </a:spcAft>
            </a:pPr>
            <a:r>
              <a:rPr lang="en-US" sz="3600" b="1">
                <a:solidFill>
                  <a:schemeClr val="bg1"/>
                </a:solidFill>
                <a:latin typeface="+mj-lt"/>
                <a:ea typeface="+mj-ea"/>
                <a:cs typeface="+mj-cs"/>
              </a:rPr>
              <a:t>Content-Based Filtering</a:t>
            </a:r>
          </a:p>
        </p:txBody>
      </p:sp>
      <p:sp>
        <p:nvSpPr>
          <p:cNvPr id="5" name="TextBox 4">
            <a:extLst>
              <a:ext uri="{FF2B5EF4-FFF2-40B4-BE49-F238E27FC236}">
                <a16:creationId xmlns:a16="http://schemas.microsoft.com/office/drawing/2014/main" id="{7F00C6A0-57A8-DC14-8243-037E8F7652FB}"/>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sz="1000">
                <a:solidFill>
                  <a:schemeClr val="bg1"/>
                </a:solidFill>
              </a:rPr>
              <a:t>In the code, we first download the necessary NLTK data and libraries. </a:t>
            </a:r>
          </a:p>
          <a:p>
            <a:pPr>
              <a:lnSpc>
                <a:spcPct val="90000"/>
              </a:lnSpc>
              <a:spcBef>
                <a:spcPts val="1000"/>
              </a:spcBef>
              <a:buClr>
                <a:schemeClr val="accent1"/>
              </a:buClr>
              <a:buSzPct val="80000"/>
              <a:buFont typeface="Wingdings 3" charset="2"/>
              <a:buChar char=""/>
            </a:pPr>
            <a:r>
              <a:rPr lang="en-US" sz="1000">
                <a:solidFill>
                  <a:schemeClr val="bg1"/>
                </a:solidFill>
              </a:rPr>
              <a:t>We then tokenize the text data using NLTK's word_tokenize() function</a:t>
            </a:r>
          </a:p>
          <a:p>
            <a:pPr>
              <a:lnSpc>
                <a:spcPct val="90000"/>
              </a:lnSpc>
              <a:spcBef>
                <a:spcPts val="1000"/>
              </a:spcBef>
              <a:buClr>
                <a:schemeClr val="accent1"/>
              </a:buClr>
              <a:buSzPct val="80000"/>
              <a:buFont typeface="Wingdings 3" charset="2"/>
              <a:buChar char=""/>
            </a:pPr>
            <a:r>
              <a:rPr lang="en-US" sz="1000">
                <a:solidFill>
                  <a:schemeClr val="bg1"/>
                </a:solidFill>
              </a:rPr>
              <a:t>Next, we remove stop words using NLTK's stopwords corpus and perform stemming and lemmatization using NLTK's PorterStemmer and WordNetLemmatizer respectively.</a:t>
            </a:r>
          </a:p>
          <a:p>
            <a:pPr>
              <a:lnSpc>
                <a:spcPct val="90000"/>
              </a:lnSpc>
              <a:spcBef>
                <a:spcPts val="1000"/>
              </a:spcBef>
              <a:buClr>
                <a:schemeClr val="accent1"/>
              </a:buClr>
              <a:buSzPct val="80000"/>
              <a:buFont typeface="Wingdings 3" charset="2"/>
              <a:buChar char=""/>
            </a:pPr>
            <a:r>
              <a:rPr lang="en-US" sz="1000">
                <a:solidFill>
                  <a:schemeClr val="bg1"/>
                </a:solidFill>
              </a:rPr>
              <a:t>After that, we perform POS tagging on the tokens using NLTK's pos_tag function and extract only nouns and adjectives from the POS tags.</a:t>
            </a:r>
          </a:p>
          <a:p>
            <a:pPr>
              <a:lnSpc>
                <a:spcPct val="90000"/>
              </a:lnSpc>
              <a:spcBef>
                <a:spcPts val="1000"/>
              </a:spcBef>
              <a:buClr>
                <a:schemeClr val="accent1"/>
              </a:buClr>
              <a:buSzPct val="80000"/>
              <a:buFont typeface="Wingdings 3" charset="2"/>
              <a:buChar char=""/>
            </a:pPr>
            <a:r>
              <a:rPr lang="en-US" sz="1000">
                <a:solidFill>
                  <a:schemeClr val="bg1"/>
                </a:solidFill>
              </a:rPr>
              <a:t>Then, we convert the processed tokens back to text for vectorization using scikit-learn's TfidfVectorizer, which calculates the TF-IDF scores of the words in the text data.</a:t>
            </a:r>
          </a:p>
          <a:p>
            <a:pPr>
              <a:lnSpc>
                <a:spcPct val="90000"/>
              </a:lnSpc>
              <a:spcBef>
                <a:spcPts val="1000"/>
              </a:spcBef>
              <a:buClr>
                <a:schemeClr val="accent1"/>
              </a:buClr>
              <a:buSzPct val="80000"/>
              <a:buFont typeface="Wingdings 3" charset="2"/>
              <a:buChar char=""/>
            </a:pPr>
            <a:r>
              <a:rPr lang="en-US" sz="1000">
                <a:solidFill>
                  <a:schemeClr val="bg1"/>
                </a:solidFill>
              </a:rPr>
              <a:t>Next, we calculate the cosine similarity matrix between all pairs of talks using scikit-learn's cosine_similarity.</a:t>
            </a:r>
          </a:p>
          <a:p>
            <a:pPr>
              <a:lnSpc>
                <a:spcPct val="90000"/>
              </a:lnSpc>
              <a:spcBef>
                <a:spcPts val="1000"/>
              </a:spcBef>
              <a:buClr>
                <a:schemeClr val="accent1"/>
              </a:buClr>
              <a:buSzPct val="80000"/>
              <a:buFont typeface="Wingdings 3" charset="2"/>
              <a:buChar char=""/>
            </a:pPr>
            <a:r>
              <a:rPr lang="en-US" sz="1000">
                <a:solidFill>
                  <a:schemeClr val="bg1"/>
                </a:solidFill>
              </a:rPr>
              <a:t>Finally, we create a function recommend_talks that takes a talk title as input and returns the top 10 recommended talks based on the cosine similarity scores.</a:t>
            </a:r>
          </a:p>
        </p:txBody>
      </p:sp>
      <p:pic>
        <p:nvPicPr>
          <p:cNvPr id="7" name="Picture 6">
            <a:extLst>
              <a:ext uri="{FF2B5EF4-FFF2-40B4-BE49-F238E27FC236}">
                <a16:creationId xmlns:a16="http://schemas.microsoft.com/office/drawing/2014/main" id="{6D5EF5A5-FFD2-D00B-69EE-3EAC1917F22F}"/>
              </a:ext>
            </a:extLst>
          </p:cNvPr>
          <p:cNvPicPr>
            <a:picLocks noChangeAspect="1"/>
          </p:cNvPicPr>
          <p:nvPr/>
        </p:nvPicPr>
        <p:blipFill>
          <a:blip r:embed="rId2"/>
          <a:stretch>
            <a:fillRect/>
          </a:stretch>
        </p:blipFill>
        <p:spPr>
          <a:xfrm>
            <a:off x="6096001" y="2150652"/>
            <a:ext cx="5143500" cy="2544181"/>
          </a:xfrm>
          <a:prstGeom prst="rect">
            <a:avLst/>
          </a:prstGeom>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248783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212F81F5-99C9-69C4-0A45-20766120BC1A}"/>
              </a:ext>
            </a:extLst>
          </p:cNvPr>
          <p:cNvSpPr txBox="1"/>
          <p:nvPr/>
        </p:nvSpPr>
        <p:spPr>
          <a:xfrm>
            <a:off x="673754" y="643467"/>
            <a:ext cx="4203045" cy="1375608"/>
          </a:xfrm>
          <a:prstGeom prst="rect">
            <a:avLst/>
          </a:prstGeom>
        </p:spPr>
        <p:txBody>
          <a:bodyPr vert="horz" lIns="91440" tIns="45720" rIns="91440" bIns="45720" rtlCol="0" anchor="ctr">
            <a:normAutofit/>
          </a:bodyPr>
          <a:lstStyle/>
          <a:p>
            <a:pPr>
              <a:spcBef>
                <a:spcPct val="0"/>
              </a:spcBef>
              <a:spcAft>
                <a:spcPts val="600"/>
              </a:spcAft>
            </a:pPr>
            <a:r>
              <a:rPr lang="en-US" sz="3600" b="1">
                <a:solidFill>
                  <a:schemeClr val="bg1"/>
                </a:solidFill>
                <a:latin typeface="+mj-lt"/>
                <a:ea typeface="+mj-ea"/>
                <a:cs typeface="+mj-cs"/>
              </a:rPr>
              <a:t>Matrix Factorization</a:t>
            </a:r>
          </a:p>
        </p:txBody>
      </p:sp>
      <p:sp>
        <p:nvSpPr>
          <p:cNvPr id="5" name="TextBox 4">
            <a:extLst>
              <a:ext uri="{FF2B5EF4-FFF2-40B4-BE49-F238E27FC236}">
                <a16:creationId xmlns:a16="http://schemas.microsoft.com/office/drawing/2014/main" id="{73DD0543-8248-F4EB-0731-71F9F33DF352}"/>
              </a:ext>
            </a:extLst>
          </p:cNvPr>
          <p:cNvSpPr txBox="1"/>
          <p:nvPr/>
        </p:nvSpPr>
        <p:spPr>
          <a:xfrm>
            <a:off x="673754" y="2160590"/>
            <a:ext cx="3973943" cy="3440110"/>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sz="1100">
                <a:solidFill>
                  <a:schemeClr val="bg1"/>
                </a:solidFill>
              </a:rPr>
              <a:t>The code performs </a:t>
            </a:r>
          </a:p>
          <a:p>
            <a:pPr>
              <a:lnSpc>
                <a:spcPct val="90000"/>
              </a:lnSpc>
              <a:spcBef>
                <a:spcPts val="1000"/>
              </a:spcBef>
              <a:buClr>
                <a:schemeClr val="accent1"/>
              </a:buClr>
              <a:buSzPct val="80000"/>
              <a:buFont typeface="Wingdings 3" charset="2"/>
              <a:buChar char=""/>
            </a:pPr>
            <a:r>
              <a:rPr lang="en-US" sz="1100">
                <a:solidFill>
                  <a:schemeClr val="bg1"/>
                </a:solidFill>
              </a:rPr>
              <a:t>tokenization, stop-word removal, TF-IDF weighting, stemming, and lemmatization on the transcript text before calculating cosine similarities between talks. </a:t>
            </a:r>
          </a:p>
          <a:p>
            <a:pPr>
              <a:lnSpc>
                <a:spcPct val="90000"/>
              </a:lnSpc>
              <a:spcBef>
                <a:spcPts val="1000"/>
              </a:spcBef>
              <a:buClr>
                <a:schemeClr val="accent1"/>
              </a:buClr>
              <a:buSzPct val="80000"/>
              <a:buFont typeface="Wingdings 3" charset="2"/>
              <a:buChar char=""/>
            </a:pPr>
            <a:r>
              <a:rPr lang="en-US" sz="1100">
                <a:solidFill>
                  <a:schemeClr val="bg1"/>
                </a:solidFill>
              </a:rPr>
              <a:t>The preprocess_text() function tokenizes the text, removes stop words, performs stemming and lemmatization, and joins the tokens back into a preprocessed string. </a:t>
            </a:r>
          </a:p>
          <a:p>
            <a:pPr>
              <a:lnSpc>
                <a:spcPct val="90000"/>
              </a:lnSpc>
              <a:spcBef>
                <a:spcPts val="1000"/>
              </a:spcBef>
              <a:buClr>
                <a:schemeClr val="accent1"/>
              </a:buClr>
              <a:buSzPct val="80000"/>
              <a:buFont typeface="Wingdings 3" charset="2"/>
              <a:buChar char=""/>
            </a:pPr>
            <a:r>
              <a:rPr lang="en-US" sz="1100">
                <a:solidFill>
                  <a:schemeClr val="bg1"/>
                </a:solidFill>
              </a:rPr>
              <a:t>The TF-IDF matrix is then created from the preprocessed text using TfidfVectorizer(), and cosine similarities are calculated between talks based on this matrix. </a:t>
            </a:r>
          </a:p>
          <a:p>
            <a:pPr>
              <a:lnSpc>
                <a:spcPct val="90000"/>
              </a:lnSpc>
              <a:spcBef>
                <a:spcPts val="1000"/>
              </a:spcBef>
              <a:buClr>
                <a:schemeClr val="accent1"/>
              </a:buClr>
              <a:buSzPct val="80000"/>
              <a:buFont typeface="Wingdings 3" charset="2"/>
              <a:buChar char=""/>
            </a:pPr>
            <a:r>
              <a:rPr lang="en-US" sz="1100">
                <a:solidFill>
                  <a:schemeClr val="bg1"/>
                </a:solidFill>
              </a:rPr>
              <a:t>The recommend() function takes a talk title as input, finds the index of that talk in the ted_data dataframe, calculates cosine similarities between that talk and all other talks, and returns the titles of the top 5 most similar talks based on cosine similarity.</a:t>
            </a:r>
          </a:p>
        </p:txBody>
      </p:sp>
      <p:pic>
        <p:nvPicPr>
          <p:cNvPr id="7" name="Picture 6">
            <a:extLst>
              <a:ext uri="{FF2B5EF4-FFF2-40B4-BE49-F238E27FC236}">
                <a16:creationId xmlns:a16="http://schemas.microsoft.com/office/drawing/2014/main" id="{6E549BE0-B6D3-5F8D-93FC-5753864E7D04}"/>
              </a:ext>
            </a:extLst>
          </p:cNvPr>
          <p:cNvPicPr>
            <a:picLocks noChangeAspect="1"/>
          </p:cNvPicPr>
          <p:nvPr/>
        </p:nvPicPr>
        <p:blipFill>
          <a:blip r:embed="rId2"/>
          <a:stretch>
            <a:fillRect/>
          </a:stretch>
        </p:blipFill>
        <p:spPr>
          <a:xfrm>
            <a:off x="6096001" y="2561207"/>
            <a:ext cx="5143500" cy="1723071"/>
          </a:xfrm>
          <a:prstGeom prst="rect">
            <a:avLst/>
          </a:prstGeom>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289286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2" name="Rectangle 2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Rectangle 2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Freeform: Shape 39">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31779AC5-6E4C-2C00-76A2-8F0022A2DAAD}"/>
              </a:ext>
            </a:extLst>
          </p:cNvPr>
          <p:cNvSpPr txBox="1"/>
          <p:nvPr/>
        </p:nvSpPr>
        <p:spPr>
          <a:xfrm>
            <a:off x="6116084" y="609601"/>
            <a:ext cx="5511296" cy="5175624"/>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a:solidFill>
                  <a:srgbClr val="FFFFFF"/>
                </a:solidFill>
              </a:rPr>
              <a:t>TEDTalk data is often not used as frequently as movie data for recommendation systems. Although data can be scraped from the official TED website, the lack of actual recommendations within the data means that the process is often classified as unsupervised learning. Therefore, it may not be meaningful to evaluate the outcome using traditional evaluation metrics since there is no clear objective function to optimize. Nonetheless, researchers can still analyze and extract useful insights from the data through clustering and other unsupervised learning techniques.</a:t>
            </a:r>
          </a:p>
        </p:txBody>
      </p:sp>
      <p:sp>
        <p:nvSpPr>
          <p:cNvPr id="5" name="TextBox 4">
            <a:extLst>
              <a:ext uri="{FF2B5EF4-FFF2-40B4-BE49-F238E27FC236}">
                <a16:creationId xmlns:a16="http://schemas.microsoft.com/office/drawing/2014/main" id="{076189C3-3A28-A114-65AD-7CF3777E5CBB}"/>
              </a:ext>
            </a:extLst>
          </p:cNvPr>
          <p:cNvSpPr txBox="1"/>
          <p:nvPr/>
        </p:nvSpPr>
        <p:spPr>
          <a:xfrm>
            <a:off x="1363918" y="3007281"/>
            <a:ext cx="3080263" cy="523220"/>
          </a:xfrm>
          <a:prstGeom prst="rect">
            <a:avLst/>
          </a:prstGeom>
          <a:noFill/>
        </p:spPr>
        <p:txBody>
          <a:bodyPr wrap="square">
            <a:spAutoFit/>
          </a:bodyPr>
          <a:lstStyle/>
          <a:p>
            <a:pPr>
              <a:spcAft>
                <a:spcPts val="600"/>
              </a:spcAft>
            </a:pPr>
            <a:r>
              <a:rPr lang="en-US" sz="2800" b="1" dirty="0"/>
              <a:t>Evaluation:</a:t>
            </a:r>
          </a:p>
        </p:txBody>
      </p:sp>
    </p:spTree>
    <p:extLst>
      <p:ext uri="{BB962C8B-B14F-4D97-AF65-F5344CB8AC3E}">
        <p14:creationId xmlns:p14="http://schemas.microsoft.com/office/powerpoint/2010/main" val="309107991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extBox 2">
            <a:extLst>
              <a:ext uri="{FF2B5EF4-FFF2-40B4-BE49-F238E27FC236}">
                <a16:creationId xmlns:a16="http://schemas.microsoft.com/office/drawing/2014/main" id="{AA53D429-BE29-244B-60B2-6B1347DA2B67}"/>
              </a:ext>
            </a:extLst>
          </p:cNvPr>
          <p:cNvGraphicFramePr/>
          <p:nvPr>
            <p:extLst>
              <p:ext uri="{D42A27DB-BD31-4B8C-83A1-F6EECF244321}">
                <p14:modId xmlns:p14="http://schemas.microsoft.com/office/powerpoint/2010/main" val="536362287"/>
              </p:ext>
            </p:extLst>
          </p:nvPr>
        </p:nvGraphicFramePr>
        <p:xfrm>
          <a:off x="1229032" y="612844"/>
          <a:ext cx="8475407" cy="56323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AFDE967A-0099-B286-653B-EFF17281CCC2}"/>
              </a:ext>
            </a:extLst>
          </p:cNvPr>
          <p:cNvSpPr txBox="1"/>
          <p:nvPr/>
        </p:nvSpPr>
        <p:spPr>
          <a:xfrm>
            <a:off x="1025013" y="124152"/>
            <a:ext cx="6100916" cy="369332"/>
          </a:xfrm>
          <a:prstGeom prst="rect">
            <a:avLst/>
          </a:prstGeom>
          <a:noFill/>
        </p:spPr>
        <p:txBody>
          <a:bodyPr wrap="square">
            <a:spAutoFit/>
          </a:bodyPr>
          <a:lstStyle/>
          <a:p>
            <a:pPr marL="0" lvl="0" indent="0" algn="l" defTabSz="400050">
              <a:lnSpc>
                <a:spcPct val="90000"/>
              </a:lnSpc>
              <a:spcBef>
                <a:spcPct val="0"/>
              </a:spcBef>
              <a:spcAft>
                <a:spcPct val="35000"/>
              </a:spcAft>
              <a:buNone/>
            </a:pPr>
            <a:r>
              <a:rPr lang="en-US" sz="2000" b="1" kern="1200" dirty="0"/>
              <a:t>Conclusion:</a:t>
            </a:r>
            <a:endParaRPr lang="en-US" sz="2000" kern="1200" dirty="0"/>
          </a:p>
        </p:txBody>
      </p:sp>
    </p:spTree>
    <p:extLst>
      <p:ext uri="{BB962C8B-B14F-4D97-AF65-F5344CB8AC3E}">
        <p14:creationId xmlns:p14="http://schemas.microsoft.com/office/powerpoint/2010/main" val="1864189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A579F-CDE6-7FF7-8418-497489AF5901}"/>
              </a:ext>
            </a:extLst>
          </p:cNvPr>
          <p:cNvSpPr txBox="1"/>
          <p:nvPr/>
        </p:nvSpPr>
        <p:spPr>
          <a:xfrm>
            <a:off x="1212111" y="4534047"/>
            <a:ext cx="8288032" cy="1096316"/>
          </a:xfrm>
          <a:prstGeom prst="rect">
            <a:avLst/>
          </a:prstGeom>
        </p:spPr>
        <p:txBody>
          <a:bodyPr vert="horz" lIns="91440" tIns="45720" rIns="91440" bIns="45720" rtlCol="0" anchor="b">
            <a:normAutofit/>
          </a:bodyPr>
          <a:lstStyle/>
          <a:p>
            <a:pPr algn="ctr">
              <a:spcBef>
                <a:spcPct val="0"/>
              </a:spcBef>
              <a:spcAft>
                <a:spcPts val="600"/>
              </a:spcAft>
            </a:pPr>
            <a:r>
              <a:rPr lang="en-US" sz="4800" b="1" kern="1200" dirty="0">
                <a:solidFill>
                  <a:schemeClr val="accent1"/>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B072E19A-84C0-437D-6A3C-D495247C4E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80259" y="934222"/>
            <a:ext cx="3299450" cy="3299450"/>
          </a:xfrm>
          <a:prstGeom prst="rect">
            <a:avLst/>
          </a:prstGeom>
        </p:spPr>
      </p:pic>
    </p:spTree>
    <p:extLst>
      <p:ext uri="{BB962C8B-B14F-4D97-AF65-F5344CB8AC3E}">
        <p14:creationId xmlns:p14="http://schemas.microsoft.com/office/powerpoint/2010/main" val="4220141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254</TotalTime>
  <Words>1242</Words>
  <Application>Microsoft Office PowerPoint</Application>
  <PresentationFormat>Widescreen</PresentationFormat>
  <Paragraphs>67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Söhne</vt:lpstr>
      <vt:lpstr>Trebuchet MS</vt:lpstr>
      <vt:lpstr>Wingdings 3</vt:lpstr>
      <vt:lpstr>Facet</vt:lpstr>
      <vt:lpstr>Recommendation System for TED Talks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Saruk Abdul Halim Shaikh</dc:creator>
  <cp:lastModifiedBy>Saruk Abdul</cp:lastModifiedBy>
  <cp:revision>24</cp:revision>
  <dcterms:created xsi:type="dcterms:W3CDTF">2023-04-17T21:08:29Z</dcterms:created>
  <dcterms:modified xsi:type="dcterms:W3CDTF">2024-04-30T09:44:35Z</dcterms:modified>
</cp:coreProperties>
</file>